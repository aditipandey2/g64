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9942500" cy="6761150"/>
  <p:embeddedFontLst>
    <p:embeddedFont>
      <p:font typeface="Tahoma"/>
      <p:regular r:id="rId30"/>
      <p:bold r:id="rId31"/>
    </p:embeddedFont>
    <p:embeddedFont>
      <p:font typeface="Helvetica Neue"/>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521">
          <p15:clr>
            <a:srgbClr val="A4A3A4"/>
          </p15:clr>
        </p15:guide>
      </p15:sldGuideLst>
    </p:ext>
    <p:ext uri="{2D200454-40CA-4A62-9FC3-DE9A4176ACB9}">
      <p15:notesGuideLst>
        <p15:guide id="1" orient="horz" pos="2130">
          <p15:clr>
            <a:srgbClr val="A4A3A4"/>
          </p15:clr>
        </p15:guide>
        <p15:guide id="2" pos="3133">
          <p15:clr>
            <a:srgbClr val="A4A3A4"/>
          </p15:clr>
        </p15:guide>
      </p15:notesGuideLst>
    </p:ext>
    <p:ext uri="GoogleSlidesCustomDataVersion2">
      <go:slidesCustomData xmlns:go="http://customooxmlschemas.google.com/" r:id="rId36" roundtripDataSignature="AMtx7mgUams7bwW91UT4GIQEzb1MIp9t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7190CF-AEDB-45CF-8660-BB9973AB6C2E}">
  <a:tblStyle styleId="{897190CF-AEDB-45CF-8660-BB9973AB6C2E}" styleName="Table_0">
    <a:wholeTbl>
      <a:tcTxStyle b="off" i="off">
        <a:font>
          <a:latin typeface="Helvetica"/>
          <a:ea typeface="Helvetica"/>
          <a:cs typeface="Helvetic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Helvetica"/>
          <a:ea typeface="Helvetica"/>
          <a:cs typeface="Helvetica"/>
        </a:font>
        <a:schemeClr val="lt1"/>
      </a:tcTxStyle>
      <a:tcStyle>
        <a:fill>
          <a:solidFill>
            <a:schemeClr val="accent4"/>
          </a:solidFill>
        </a:fill>
      </a:tcStyle>
    </a:lastCol>
    <a:firstCol>
      <a:tcTxStyle b="on" i="off">
        <a:font>
          <a:latin typeface="Helvetica"/>
          <a:ea typeface="Helvetica"/>
          <a:cs typeface="Helvetica"/>
        </a:font>
        <a:schemeClr val="lt1"/>
      </a:tcTxStyle>
      <a:tcStyle>
        <a:fill>
          <a:solidFill>
            <a:schemeClr val="accent4"/>
          </a:solidFill>
        </a:fill>
      </a:tcStyle>
    </a:firstCol>
    <a:lastRow>
      <a:tcTxStyle b="on" i="off">
        <a:font>
          <a:latin typeface="Helvetica"/>
          <a:ea typeface="Helvetica"/>
          <a:cs typeface="Helvetica"/>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Helvetica"/>
          <a:ea typeface="Helvetica"/>
          <a:cs typeface="Helvetica"/>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521"/>
      </p:guideLst>
    </p:cSldViewPr>
  </p:slideViewPr>
  <p:notesViewPr>
    <p:cSldViewPr snapToGrid="0">
      <p:cViewPr varScale="1">
        <p:scale>
          <a:sx n="100" d="100"/>
          <a:sy n="100" d="100"/>
        </p:scale>
        <p:origin x="0" y="0"/>
      </p:cViewPr>
      <p:guideLst>
        <p:guide pos="2130" orient="horz"/>
        <p:guide pos="3133"/>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Tahoma-bold.fntdata"/><Relationship Id="rId30" Type="http://schemas.openxmlformats.org/officeDocument/2006/relationships/font" Target="fonts/Tahoma-regular.fntdata"/><Relationship Id="rId11" Type="http://schemas.openxmlformats.org/officeDocument/2006/relationships/slide" Target="slides/slide5.xml"/><Relationship Id="rId33" Type="http://schemas.openxmlformats.org/officeDocument/2006/relationships/font" Target="fonts/HelveticaNeue-bold.fntdata"/><Relationship Id="rId10" Type="http://schemas.openxmlformats.org/officeDocument/2006/relationships/slide" Target="slides/slide4.xml"/><Relationship Id="rId32" Type="http://schemas.openxmlformats.org/officeDocument/2006/relationships/font" Target="fonts/HelveticaNeue-regular.fntdata"/><Relationship Id="rId13" Type="http://schemas.openxmlformats.org/officeDocument/2006/relationships/slide" Target="slides/slide7.xml"/><Relationship Id="rId35" Type="http://schemas.openxmlformats.org/officeDocument/2006/relationships/font" Target="fonts/HelveticaNeue-boldItalic.fntdata"/><Relationship Id="rId12" Type="http://schemas.openxmlformats.org/officeDocument/2006/relationships/slide" Target="slides/slide6.xml"/><Relationship Id="rId34" Type="http://schemas.openxmlformats.org/officeDocument/2006/relationships/font" Target="fonts/HelveticaNeue-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332288" cy="3333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5635625" y="0"/>
            <a:ext cx="4333875" cy="33337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lvl1pPr indent="-228600" lvl="0" marL="457200" marR="0" rtl="0" algn="l">
              <a:spcBef>
                <a:spcPts val="300"/>
              </a:spcBef>
              <a:spcAft>
                <a:spcPts val="0"/>
              </a:spcAft>
              <a:buSzPts val="1400"/>
              <a:buNone/>
              <a:defRPr b="0" i="0" sz="1000" u="none" cap="none" strike="noStrike">
                <a:solidFill>
                  <a:srgbClr val="E36C0A"/>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438900"/>
            <a:ext cx="4332288" cy="3333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1: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 name="Google Shape;37;p2:notes"/>
          <p:cNvSpPr txBox="1"/>
          <p:nvPr>
            <p:ph idx="1" type="body"/>
          </p:nvPr>
        </p:nvSpPr>
        <p:spPr>
          <a:xfrm>
            <a:off x="1300163" y="3221038"/>
            <a:ext cx="7369175" cy="30511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2:notes"/>
          <p:cNvSpPr txBox="1"/>
          <p:nvPr>
            <p:ph idx="12" type="sldNum"/>
          </p:nvPr>
        </p:nvSpPr>
        <p:spPr>
          <a:xfrm>
            <a:off x="5635625" y="6438900"/>
            <a:ext cx="4333875" cy="3333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44" name="Google Shape;44;p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50" name="Google Shape;50;p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56" name="Google Shape;56;p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62" name="Google Shape;62;p6: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68" name="Google Shape;68;p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75" name="Google Shape;75;p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0: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81" name="Google Shape;81;p10: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87" name="Google Shape;87;p1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2:notes"/>
          <p:cNvSpPr txBox="1"/>
          <p:nvPr>
            <p:ph idx="1" type="body"/>
          </p:nvPr>
        </p:nvSpPr>
        <p:spPr>
          <a:xfrm>
            <a:off x="1300163" y="3221038"/>
            <a:ext cx="7369200" cy="3051300"/>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96" name="Google Shape;96;p12:notes"/>
          <p:cNvSpPr/>
          <p:nvPr>
            <p:ph idx="2" type="sldImg"/>
          </p:nvPr>
        </p:nvSpPr>
        <p:spPr>
          <a:xfrm>
            <a:off x="3230563" y="500063"/>
            <a:ext cx="3400500" cy="2551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05" name="Google Shape;105;p1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12" name="Google Shape;112;p1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5: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20" name="Google Shape;120;p15: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6: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29" name="Google Shape;129;p16: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7: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35" name="Google Shape;135;p17: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8: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1" name="Google Shape;141;p18: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9: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48" name="Google Shape;148;p19: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0: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55" name="Google Shape;155;p20: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1: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2" name="Google Shape;162;p21: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2: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68" name="Google Shape;168;p22: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3: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74" name="Google Shape;174;p23: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4:notes"/>
          <p:cNvSpPr txBox="1"/>
          <p:nvPr>
            <p:ph idx="1" type="body"/>
          </p:nvPr>
        </p:nvSpPr>
        <p:spPr>
          <a:xfrm>
            <a:off x="1300163" y="3221038"/>
            <a:ext cx="7369175" cy="3051175"/>
          </a:xfrm>
          <a:prstGeom prst="rect">
            <a:avLst/>
          </a:prstGeom>
        </p:spPr>
        <p:txBody>
          <a:bodyPr anchorCtr="0" anchor="ctr" bIns="45700" lIns="91425" spcFirstLastPara="1" rIns="91425" wrap="square" tIns="45700">
            <a:noAutofit/>
          </a:bodyPr>
          <a:lstStyle/>
          <a:p>
            <a:pPr indent="0" lvl="0" marL="0" rtl="0" algn="l">
              <a:spcBef>
                <a:spcPts val="300"/>
              </a:spcBef>
              <a:spcAft>
                <a:spcPts val="0"/>
              </a:spcAft>
              <a:buNone/>
            </a:pPr>
            <a:r>
              <a:t/>
            </a:r>
            <a:endParaRPr/>
          </a:p>
        </p:txBody>
      </p:sp>
      <p:sp>
        <p:nvSpPr>
          <p:cNvPr id="180" name="Google Shape;180;p24:notes"/>
          <p:cNvSpPr/>
          <p:nvPr>
            <p:ph idx="2" type="sldImg"/>
          </p:nvPr>
        </p:nvSpPr>
        <p:spPr>
          <a:xfrm>
            <a:off x="3230563" y="500063"/>
            <a:ext cx="3400425" cy="25511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26"/>
          <p:cNvSpPr txBox="1"/>
          <p:nvPr>
            <p:ph type="ctrTitle"/>
          </p:nvPr>
        </p:nvSpPr>
        <p:spPr>
          <a:xfrm>
            <a:off x="755373" y="685800"/>
            <a:ext cx="7901609" cy="1615966"/>
          </a:xfrm>
          <a:prstGeom prst="rect">
            <a:avLst/>
          </a:prstGeom>
          <a:solidFill>
            <a:srgbClr val="D2691E"/>
          </a:solidFill>
          <a:ln cap="flat" cmpd="sng" w="9525">
            <a:solidFill>
              <a:srgbClr val="D2691E"/>
            </a:solidFill>
            <a:prstDash val="solid"/>
            <a:round/>
            <a:headEnd len="sm" w="sm" type="none"/>
            <a:tailEnd len="sm" w="sm" type="none"/>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2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27"/>
          <p:cNvSpPr txBox="1"/>
          <p:nvPr>
            <p:ph idx="1" type="body"/>
          </p:nvPr>
        </p:nvSpPr>
        <p:spPr>
          <a:xfrm>
            <a:off x="86197" y="782321"/>
            <a:ext cx="8953500" cy="5976288"/>
          </a:xfrm>
          <a:prstGeom prst="rect">
            <a:avLst/>
          </a:prstGeom>
          <a:noFill/>
          <a:ln>
            <a:noFill/>
          </a:ln>
        </p:spPr>
        <p:txBody>
          <a:bodyPr anchorCtr="0" anchor="t" bIns="45700" lIns="91425" spcFirstLastPara="1" rIns="91425" wrap="square" tIns="45700">
            <a:noAutofit/>
          </a:bodyPr>
          <a:lstStyle>
            <a:lvl1pPr indent="-371475" lvl="0" marL="457200"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indent="-330200" lvl="1" marL="9144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indent="-304800" lvl="2" marL="13716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indent="-304800" lvl="3" marL="1828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indent="-304800" lvl="4" marL="22860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cxnSp>
        <p:nvCxnSpPr>
          <p:cNvPr id="22" name="Google Shape;22;p27"/>
          <p:cNvCxnSpPr/>
          <p:nvPr/>
        </p:nvCxnSpPr>
        <p:spPr>
          <a:xfrm>
            <a:off x="579120" y="6658235"/>
            <a:ext cx="7934960" cy="0"/>
          </a:xfrm>
          <a:prstGeom prst="straightConnector1">
            <a:avLst/>
          </a:prstGeom>
          <a:solidFill>
            <a:schemeClr val="accent1"/>
          </a:solidFill>
          <a:ln cap="flat" cmpd="sng" w="9525">
            <a:solidFill>
              <a:srgbClr val="00549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30480" y="27846"/>
            <a:ext cx="8328751"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lvl1pPr lvl="0" marR="0" rtl="0" algn="l">
              <a:spcBef>
                <a:spcPts val="0"/>
              </a:spcBef>
              <a:spcAft>
                <a:spcPts val="0"/>
              </a:spcAft>
              <a:buSzPts val="1400"/>
              <a:buNone/>
              <a:defRPr b="1" i="0" sz="2400" u="none" cap="none" strike="noStrike">
                <a:solidFill>
                  <a:schemeClr val="lt1"/>
                </a:solidFill>
                <a:latin typeface="Helvetica Neue"/>
                <a:ea typeface="Helvetica Neue"/>
                <a:cs typeface="Helvetica Neue"/>
                <a:sym typeface="Helvetica Neue"/>
              </a:defRPr>
            </a:lvl1pPr>
            <a:lvl2pPr lvl="1"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2pPr>
            <a:lvl3pPr lvl="2"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3pPr>
            <a:lvl4pPr lvl="3"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4pPr>
            <a:lvl5pPr lvl="4" marR="0" rtl="0" algn="l">
              <a:spcBef>
                <a:spcPts val="0"/>
              </a:spcBef>
              <a:spcAft>
                <a:spcPts val="0"/>
              </a:spcAft>
              <a:buSzPts val="1400"/>
              <a:buNone/>
              <a:defRPr b="0" i="0" sz="2400" u="none" cap="none" strike="noStrike">
                <a:solidFill>
                  <a:schemeClr val="lt1"/>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1" name="Google Shape;11;p25"/>
          <p:cNvSpPr txBox="1"/>
          <p:nvPr>
            <p:ph idx="1" type="body"/>
          </p:nvPr>
        </p:nvSpPr>
        <p:spPr>
          <a:xfrm>
            <a:off x="86197" y="782321"/>
            <a:ext cx="8953500" cy="5831590"/>
          </a:xfrm>
          <a:prstGeom prst="rect">
            <a:avLst/>
          </a:prstGeom>
          <a:noFill/>
          <a:ln>
            <a:noFill/>
          </a:ln>
        </p:spPr>
        <p:txBody>
          <a:bodyPr anchorCtr="0" anchor="t" bIns="45700" lIns="91425" spcFirstLastPara="1" rIns="91425" wrap="square" tIns="45700">
            <a:noAutofit/>
          </a:bodyPr>
          <a:lstStyle>
            <a:lvl1pPr indent="-371475" lvl="0" marL="457200" marR="0" rtl="0" algn="just">
              <a:lnSpc>
                <a:spcPct val="150000"/>
              </a:lnSpc>
              <a:spcBef>
                <a:spcPts val="630"/>
              </a:spcBef>
              <a:spcAft>
                <a:spcPts val="0"/>
              </a:spcAft>
              <a:buClr>
                <a:schemeClr val="dk1"/>
              </a:buClr>
              <a:buSzPts val="2250"/>
              <a:buFont typeface="Arial"/>
              <a:buChar char="•"/>
              <a:defRPr b="0" i="0" sz="1800" u="none" cap="none" strike="noStrike">
                <a:solidFill>
                  <a:schemeClr val="dk1"/>
                </a:solidFill>
                <a:latin typeface="Helvetica Neue"/>
                <a:ea typeface="Helvetica Neue"/>
                <a:cs typeface="Helvetica Neue"/>
                <a:sym typeface="Helvetica Neue"/>
              </a:defRPr>
            </a:lvl1pPr>
            <a:lvl2pPr indent="-330200" lvl="1" marL="914400" marR="0" rtl="0" algn="just">
              <a:lnSpc>
                <a:spcPct val="150000"/>
              </a:lnSpc>
              <a:spcBef>
                <a:spcPts val="560"/>
              </a:spcBef>
              <a:spcAft>
                <a:spcPts val="0"/>
              </a:spcAft>
              <a:buClr>
                <a:schemeClr val="dk1"/>
              </a:buClr>
              <a:buSzPts val="1600"/>
              <a:buFont typeface="Courier New"/>
              <a:buChar char="o"/>
              <a:defRPr b="0" i="0" sz="1600" u="none" cap="none" strike="noStrike">
                <a:solidFill>
                  <a:schemeClr val="dk1"/>
                </a:solidFill>
                <a:latin typeface="Helvetica Neue"/>
                <a:ea typeface="Helvetica Neue"/>
                <a:cs typeface="Helvetica Neue"/>
                <a:sym typeface="Helvetica Neue"/>
              </a:defRPr>
            </a:lvl2pPr>
            <a:lvl3pPr indent="-304800" lvl="2" marL="1371600" marR="0" rtl="0" algn="just">
              <a:lnSpc>
                <a:spcPct val="150000"/>
              </a:lnSpc>
              <a:spcBef>
                <a:spcPts val="560"/>
              </a:spcBef>
              <a:spcAft>
                <a:spcPts val="0"/>
              </a:spcAft>
              <a:buClr>
                <a:srgbClr val="009900"/>
              </a:buClr>
              <a:buSzPts val="1200"/>
              <a:buFont typeface="Arimo"/>
              <a:buChar char="4"/>
              <a:defRPr b="0" i="0" sz="1600" u="none" cap="none" strike="noStrike">
                <a:solidFill>
                  <a:schemeClr val="dk1"/>
                </a:solidFill>
                <a:latin typeface="Helvetica Neue"/>
                <a:ea typeface="Helvetica Neue"/>
                <a:cs typeface="Helvetica Neue"/>
                <a:sym typeface="Helvetica Neue"/>
              </a:defRPr>
            </a:lvl3pPr>
            <a:lvl4pPr indent="-304800" lvl="3" marL="1828800" marR="0" rtl="0" algn="just">
              <a:lnSpc>
                <a:spcPct val="150000"/>
              </a:lnSpc>
              <a:spcBef>
                <a:spcPts val="560"/>
              </a:spcBef>
              <a:spcAft>
                <a:spcPts val="0"/>
              </a:spcAft>
              <a:buClr>
                <a:schemeClr val="hlink"/>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4pPr>
            <a:lvl5pPr indent="-304800" lvl="4" marL="2286000" marR="0" rtl="0" algn="just">
              <a:lnSpc>
                <a:spcPct val="150000"/>
              </a:lnSpc>
              <a:spcBef>
                <a:spcPts val="560"/>
              </a:spcBef>
              <a:spcAft>
                <a:spcPts val="0"/>
              </a:spcAft>
              <a:buClr>
                <a:srgbClr val="FF0066"/>
              </a:buClr>
              <a:buSzPts val="1200"/>
              <a:buFont typeface="Helvetica Neue"/>
              <a:buChar char="»"/>
              <a:defRPr b="0" i="0" sz="16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2" name="Google Shape;12;p25"/>
          <p:cNvSpPr txBox="1"/>
          <p:nvPr/>
        </p:nvSpPr>
        <p:spPr>
          <a:xfrm>
            <a:off x="4259263" y="6126163"/>
            <a:ext cx="1928812" cy="2460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000" u="none" cap="none" strike="noStrike">
                <a:solidFill>
                  <a:schemeClr val="lt1"/>
                </a:solidFill>
                <a:latin typeface="Helvetica Neue"/>
                <a:ea typeface="Helvetica Neue"/>
                <a:cs typeface="Helvetica Neue"/>
                <a:sym typeface="Helvetica Neue"/>
              </a:rPr>
              <a:t>Wednesday, March 12, 2025</a:t>
            </a:r>
            <a:endParaRPr b="1" i="0" sz="1000" u="none" cap="none" strike="noStrike">
              <a:solidFill>
                <a:schemeClr val="lt1"/>
              </a:solidFill>
              <a:latin typeface="Helvetica Neue"/>
              <a:ea typeface="Helvetica Neue"/>
              <a:cs typeface="Helvetica Neue"/>
              <a:sym typeface="Helvetica Neue"/>
            </a:endParaRPr>
          </a:p>
        </p:txBody>
      </p:sp>
      <p:pic>
        <p:nvPicPr>
          <p:cNvPr descr="JUIT Office Photos | Glassdoor" id="13" name="Google Shape;13;p25"/>
          <p:cNvPicPr preferRelativeResize="0"/>
          <p:nvPr/>
        </p:nvPicPr>
        <p:blipFill rotWithShape="1">
          <a:blip r:embed="rId1">
            <a:alphaModFix/>
          </a:blip>
          <a:srcRect b="0" l="0" r="0" t="0"/>
          <a:stretch/>
        </p:blipFill>
        <p:spPr>
          <a:xfrm>
            <a:off x="8349072" y="42901"/>
            <a:ext cx="815248" cy="679009"/>
          </a:xfrm>
          <a:prstGeom prst="rect">
            <a:avLst/>
          </a:prstGeom>
          <a:noFill/>
          <a:ln>
            <a:noFill/>
          </a:ln>
        </p:spPr>
      </p:pic>
      <p:sp>
        <p:nvSpPr>
          <p:cNvPr id="14" name="Google Shape;14;p25"/>
          <p:cNvSpPr txBox="1"/>
          <p:nvPr/>
        </p:nvSpPr>
        <p:spPr>
          <a:xfrm>
            <a:off x="123673" y="6687228"/>
            <a:ext cx="8694256" cy="195391"/>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0" i="0" lang="en-IN" sz="950" u="none" cap="none" strike="noStrike">
                <a:solidFill>
                  <a:srgbClr val="002060"/>
                </a:solidFill>
                <a:latin typeface="Palatino"/>
                <a:ea typeface="Palatino"/>
                <a:cs typeface="Palatino"/>
                <a:sym typeface="Palatino"/>
              </a:rPr>
              <a:t>       </a:t>
            </a:r>
            <a:r>
              <a:rPr b="0" i="0" lang="en-IN" sz="900" u="none" cap="none" strike="noStrike">
                <a:solidFill>
                  <a:srgbClr val="002060"/>
                </a:solidFill>
                <a:latin typeface="Palatino"/>
                <a:ea typeface="Palatino"/>
                <a:cs typeface="Palatino"/>
                <a:sym typeface="Palatino"/>
              </a:rPr>
              <a:t>Major Project – II (18B19CI891) Mid-Term Evaluation | Department of CSE &amp; IT | AY 2024-25. </a:t>
            </a:r>
            <a:endParaRPr/>
          </a:p>
        </p:txBody>
      </p:sp>
      <p:sp>
        <p:nvSpPr>
          <p:cNvPr id="15" name="Google Shape;15;p25"/>
          <p:cNvSpPr txBox="1"/>
          <p:nvPr/>
        </p:nvSpPr>
        <p:spPr>
          <a:xfrm>
            <a:off x="8798560" y="6613912"/>
            <a:ext cx="259243" cy="246062"/>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950" u="none" cap="none" strike="noStrike">
              <a:solidFill>
                <a:srgbClr val="002060"/>
              </a:solidFill>
              <a:latin typeface="Palatino"/>
              <a:ea typeface="Palatino"/>
              <a:cs typeface="Palatino"/>
              <a:sym typeface="Palatino"/>
            </a:endParaRPr>
          </a:p>
        </p:txBody>
      </p:sp>
      <p:sp>
        <p:nvSpPr>
          <p:cNvPr id="16" name="Google Shape;16;p25"/>
          <p:cNvSpPr txBox="1"/>
          <p:nvPr/>
        </p:nvSpPr>
        <p:spPr>
          <a:xfrm>
            <a:off x="8798560" y="6644391"/>
            <a:ext cx="365760"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fld id="{00000000-1234-1234-1234-123412341234}" type="slidenum">
              <a:rPr b="0" i="0" lang="en-IN" sz="900" u="none" cap="none" strike="noStrike">
                <a:solidFill>
                  <a:srgbClr val="005493"/>
                </a:solidFill>
                <a:latin typeface="Palatino"/>
                <a:ea typeface="Palatino"/>
                <a:cs typeface="Palatino"/>
                <a:sym typeface="Palatino"/>
              </a:rPr>
              <a:t>‹#›</a:t>
            </a:fld>
            <a:r>
              <a:rPr b="0" i="0" lang="en-IN" sz="900" u="none" cap="none" strike="noStrike">
                <a:solidFill>
                  <a:srgbClr val="005493"/>
                </a:solidFill>
                <a:latin typeface="Palatino"/>
                <a:ea typeface="Palatino"/>
                <a:cs typeface="Palatino"/>
                <a:sym typeface="Palatino"/>
              </a:rPr>
              <a:t>.</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txBox="1"/>
          <p:nvPr>
            <p:ph type="ctrTitle"/>
          </p:nvPr>
        </p:nvSpPr>
        <p:spPr>
          <a:xfrm>
            <a:off x="0" y="3401210"/>
            <a:ext cx="9144000" cy="759871"/>
          </a:xfrm>
          <a:prstGeom prst="rect">
            <a:avLst/>
          </a:prstGeom>
          <a:solidFill>
            <a:srgbClr val="0037A4"/>
          </a:solid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1400"/>
              <a:buFont typeface="Arial"/>
              <a:buNone/>
            </a:pPr>
            <a:r>
              <a:rPr lang="en-IN" sz="2800"/>
              <a:t>Voice Shield: AI-Powered Deepfake Audio Defense</a:t>
            </a:r>
            <a:endParaRPr b="1" sz="1400"/>
          </a:p>
        </p:txBody>
      </p:sp>
      <p:sp>
        <p:nvSpPr>
          <p:cNvPr id="28" name="Google Shape;28;p1"/>
          <p:cNvSpPr txBox="1"/>
          <p:nvPr/>
        </p:nvSpPr>
        <p:spPr>
          <a:xfrm>
            <a:off x="959983" y="635844"/>
            <a:ext cx="7429520" cy="980728"/>
          </a:xfrm>
          <a:prstGeom prst="rect">
            <a:avLst/>
          </a:prstGeom>
          <a:noFill/>
          <a:ln>
            <a:noFill/>
          </a:ln>
        </p:spPr>
        <p:txBody>
          <a:bodyPr anchorCtr="0" anchor="b" bIns="45700" lIns="91425" spcFirstLastPara="1" rIns="91425" wrap="square" tIns="45700">
            <a:noAutofit/>
          </a:bodyPr>
          <a:lstStyle/>
          <a:p>
            <a:pPr indent="0" lvl="0" marL="0" marR="0" rtl="0" algn="ctr">
              <a:lnSpc>
                <a:spcPct val="128571"/>
              </a:lnSpc>
              <a:spcBef>
                <a:spcPts val="0"/>
              </a:spcBef>
              <a:spcAft>
                <a:spcPts val="0"/>
              </a:spcAft>
              <a:buClr>
                <a:srgbClr val="000099"/>
              </a:buClr>
              <a:buSzPts val="2800"/>
              <a:buFont typeface="Palatino"/>
              <a:buNone/>
            </a:pPr>
            <a:r>
              <a:rPr b="1" i="0" lang="en-IN" sz="2800" u="none" cap="none" strike="noStrike">
                <a:solidFill>
                  <a:srgbClr val="000099"/>
                </a:solidFill>
                <a:latin typeface="Palatino"/>
                <a:ea typeface="Palatino"/>
                <a:cs typeface="Palatino"/>
                <a:sym typeface="Palatino"/>
              </a:rPr>
              <a:t>Jaypee University of Information Technology, Waknaghat - 173234 (India)</a:t>
            </a:r>
            <a:endParaRPr/>
          </a:p>
        </p:txBody>
      </p:sp>
      <p:sp>
        <p:nvSpPr>
          <p:cNvPr id="29" name="Google Shape;29;p1"/>
          <p:cNvSpPr/>
          <p:nvPr/>
        </p:nvSpPr>
        <p:spPr>
          <a:xfrm>
            <a:off x="1500060" y="1841236"/>
            <a:ext cx="6349367" cy="118494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IN" sz="2400" u="none" cap="none" strike="noStrike">
                <a:solidFill>
                  <a:schemeClr val="dk1"/>
                </a:solidFill>
                <a:latin typeface="Palatino"/>
                <a:ea typeface="Palatino"/>
                <a:cs typeface="Palatino"/>
                <a:sym typeface="Palatino"/>
              </a:rPr>
              <a:t>Major Project - II (18B19CI891) | AY 2024-25</a:t>
            </a:r>
            <a:endParaRPr/>
          </a:p>
          <a:p>
            <a:pPr indent="0" lvl="0" marL="0" marR="0" rtl="0" algn="ctr">
              <a:lnSpc>
                <a:spcPct val="200000"/>
              </a:lnSpc>
              <a:spcBef>
                <a:spcPts val="0"/>
              </a:spcBef>
              <a:spcAft>
                <a:spcPts val="0"/>
              </a:spcAft>
              <a:buNone/>
            </a:pPr>
            <a:r>
              <a:rPr b="1" i="0" lang="en-IN" sz="2000" u="none" cap="none" strike="noStrike">
                <a:solidFill>
                  <a:schemeClr val="dk1"/>
                </a:solidFill>
                <a:latin typeface="Palatino"/>
                <a:ea typeface="Palatino"/>
                <a:cs typeface="Palatino"/>
                <a:sym typeface="Palatino"/>
              </a:rPr>
              <a:t>Mid-Term Evaluation | March 17-22, 2025.</a:t>
            </a:r>
            <a:endParaRPr/>
          </a:p>
        </p:txBody>
      </p:sp>
      <p:sp>
        <p:nvSpPr>
          <p:cNvPr id="30" name="Google Shape;30;p1"/>
          <p:cNvSpPr txBox="1"/>
          <p:nvPr/>
        </p:nvSpPr>
        <p:spPr>
          <a:xfrm>
            <a:off x="517798" y="4388436"/>
            <a:ext cx="3620700" cy="2324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N" sz="1800">
                <a:solidFill>
                  <a:schemeClr val="dk1"/>
                </a:solidFill>
                <a:latin typeface="Helvetica Neue"/>
                <a:ea typeface="Helvetica Neue"/>
                <a:cs typeface="Helvetica Neue"/>
                <a:sym typeface="Helvetica Neue"/>
              </a:rPr>
              <a:t>Group No.: 64</a:t>
            </a:r>
            <a:endParaRPr sz="1200">
              <a:solidFill>
                <a:schemeClr val="dk1"/>
              </a:solidFill>
              <a:latin typeface="Verdana"/>
              <a:ea typeface="Verdana"/>
              <a:cs typeface="Verdana"/>
              <a:sym typeface="Verdana"/>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lnSpc>
                <a:spcPct val="114000"/>
              </a:lnSpc>
              <a:spcBef>
                <a:spcPts val="0"/>
              </a:spcBef>
              <a:spcAft>
                <a:spcPts val="0"/>
              </a:spcAft>
              <a:buNone/>
            </a:pPr>
            <a:r>
              <a:rPr b="1" lang="en-IN" sz="1800">
                <a:solidFill>
                  <a:schemeClr val="dk1"/>
                </a:solidFill>
                <a:latin typeface="Helvetica Neue"/>
                <a:ea typeface="Helvetica Neue"/>
                <a:cs typeface="Helvetica Neue"/>
                <a:sym typeface="Helvetica Neue"/>
              </a:rPr>
              <a:t>Team Member (s)</a:t>
            </a:r>
            <a:endParaRPr>
              <a:solidFill>
                <a:schemeClr val="dk1"/>
              </a:solidFill>
            </a:endParaRPr>
          </a:p>
          <a:p>
            <a:pPr indent="-323850" lvl="0" marL="457200" rtl="0" algn="l">
              <a:lnSpc>
                <a:spcPct val="125000"/>
              </a:lnSpc>
              <a:spcBef>
                <a:spcPts val="1200"/>
              </a:spcBef>
              <a:spcAft>
                <a:spcPts val="0"/>
              </a:spcAft>
              <a:buClr>
                <a:schemeClr val="dk1"/>
              </a:buClr>
              <a:buSzPts val="1500"/>
              <a:buChar char="•"/>
            </a:pPr>
            <a:r>
              <a:rPr lang="en-IN" sz="1600">
                <a:solidFill>
                  <a:schemeClr val="dk1"/>
                </a:solidFill>
                <a:latin typeface="Tahoma"/>
                <a:ea typeface="Tahoma"/>
                <a:cs typeface="Tahoma"/>
                <a:sym typeface="Tahoma"/>
              </a:rPr>
              <a:t>Isha(211293) </a:t>
            </a:r>
            <a:endParaRPr sz="1200">
              <a:solidFill>
                <a:schemeClr val="dk1"/>
              </a:solidFill>
              <a:latin typeface="Verdana"/>
              <a:ea typeface="Verdana"/>
              <a:cs typeface="Verdana"/>
              <a:sym typeface="Verdana"/>
            </a:endParaRPr>
          </a:p>
          <a:p>
            <a:pPr indent="-323850" lvl="0" marL="457200" rtl="0" algn="l">
              <a:lnSpc>
                <a:spcPct val="125000"/>
              </a:lnSpc>
              <a:spcBef>
                <a:spcPts val="0"/>
              </a:spcBef>
              <a:spcAft>
                <a:spcPts val="0"/>
              </a:spcAft>
              <a:buClr>
                <a:schemeClr val="dk1"/>
              </a:buClr>
              <a:buSzPts val="1500"/>
              <a:buChar char="•"/>
            </a:pPr>
            <a:r>
              <a:rPr lang="en-IN" sz="1600">
                <a:solidFill>
                  <a:schemeClr val="dk1"/>
                </a:solidFill>
                <a:latin typeface="Tahoma"/>
                <a:ea typeface="Tahoma"/>
                <a:cs typeface="Tahoma"/>
                <a:sym typeface="Tahoma"/>
              </a:rPr>
              <a:t>Aditi Pandey (211326)</a:t>
            </a:r>
            <a:endParaRPr sz="1200">
              <a:solidFill>
                <a:schemeClr val="dk1"/>
              </a:solidFill>
              <a:latin typeface="Verdana"/>
              <a:ea typeface="Verdana"/>
              <a:cs typeface="Verdana"/>
              <a:sym typeface="Verdana"/>
            </a:endParaRPr>
          </a:p>
          <a:p>
            <a:pPr indent="0" lvl="0" marL="0" marR="0" rtl="0" algn="l">
              <a:lnSpc>
                <a:spcPct val="125000"/>
              </a:lnSpc>
              <a:spcBef>
                <a:spcPts val="0"/>
              </a:spcBef>
              <a:spcAft>
                <a:spcPts val="0"/>
              </a:spcAft>
              <a:buNone/>
            </a:pPr>
            <a:r>
              <a:t/>
            </a:r>
            <a:endParaRPr b="1" sz="1800">
              <a:solidFill>
                <a:schemeClr val="dk1"/>
              </a:solidFill>
              <a:latin typeface="Helvetica Neue"/>
              <a:ea typeface="Helvetica Neue"/>
              <a:cs typeface="Helvetica Neue"/>
              <a:sym typeface="Helvetica Neue"/>
            </a:endParaRPr>
          </a:p>
          <a:p>
            <a:pPr indent="0" lvl="0" marL="0" marR="0" rtl="0" algn="ctr">
              <a:spcBef>
                <a:spcPts val="0"/>
              </a:spcBef>
              <a:spcAft>
                <a:spcPts val="0"/>
              </a:spcAft>
              <a:buNone/>
            </a:pPr>
            <a:r>
              <a:t/>
            </a:r>
            <a:endParaRPr sz="1600">
              <a:solidFill>
                <a:schemeClr val="dk1"/>
              </a:solidFill>
              <a:latin typeface="Helvetica Neue"/>
              <a:ea typeface="Helvetica Neue"/>
              <a:cs typeface="Helvetica Neue"/>
              <a:sym typeface="Helvetica Neue"/>
            </a:endParaRPr>
          </a:p>
        </p:txBody>
      </p:sp>
      <p:sp>
        <p:nvSpPr>
          <p:cNvPr id="31" name="Google Shape;31;p1"/>
          <p:cNvSpPr txBox="1"/>
          <p:nvPr/>
        </p:nvSpPr>
        <p:spPr>
          <a:xfrm>
            <a:off x="4850488" y="4388434"/>
            <a:ext cx="4118400" cy="1677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Tahoma"/>
              <a:buNone/>
            </a:pPr>
            <a:r>
              <a:rPr b="1" lang="en-IN" sz="1800">
                <a:solidFill>
                  <a:schemeClr val="dk1"/>
                </a:solidFill>
                <a:latin typeface="Tahoma"/>
                <a:ea typeface="Tahoma"/>
                <a:cs typeface="Tahoma"/>
                <a:sym typeface="Tahoma"/>
              </a:rPr>
              <a:t>Supervisor (s)</a:t>
            </a:r>
            <a:endParaRPr sz="1200">
              <a:solidFill>
                <a:schemeClr val="dk1"/>
              </a:solidFill>
              <a:latin typeface="Verdana"/>
              <a:ea typeface="Verdana"/>
              <a:cs typeface="Verdana"/>
              <a:sym typeface="Verdana"/>
            </a:endParaRPr>
          </a:p>
          <a:p>
            <a:pPr indent="-342900" lvl="0" marL="342900" rtl="0" algn="l">
              <a:lnSpc>
                <a:spcPct val="125000"/>
              </a:lnSpc>
              <a:spcBef>
                <a:spcPts val="1200"/>
              </a:spcBef>
              <a:spcAft>
                <a:spcPts val="0"/>
              </a:spcAft>
              <a:buClr>
                <a:schemeClr val="dk1"/>
              </a:buClr>
              <a:buSzPts val="1500"/>
              <a:buChar char="•"/>
            </a:pPr>
            <a:r>
              <a:rPr lang="en-IN" sz="1600">
                <a:solidFill>
                  <a:schemeClr val="dk1"/>
                </a:solidFill>
                <a:latin typeface="Tahoma"/>
                <a:ea typeface="Tahoma"/>
                <a:cs typeface="Tahoma"/>
                <a:sym typeface="Tahoma"/>
              </a:rPr>
              <a:t>Name: Dr. Ruchi Verma</a:t>
            </a:r>
            <a:endParaRPr sz="1200">
              <a:solidFill>
                <a:schemeClr val="dk1"/>
              </a:solidFill>
              <a:latin typeface="Verdana"/>
              <a:ea typeface="Verdana"/>
              <a:cs typeface="Verdana"/>
              <a:sym typeface="Verdana"/>
            </a:endParaRPr>
          </a:p>
          <a:p>
            <a:pPr indent="0" lvl="0" marL="357187" rtl="0" algn="l">
              <a:lnSpc>
                <a:spcPct val="125000"/>
              </a:lnSpc>
              <a:spcBef>
                <a:spcPts val="0"/>
              </a:spcBef>
              <a:spcAft>
                <a:spcPts val="0"/>
              </a:spcAft>
              <a:buClr>
                <a:schemeClr val="dk1"/>
              </a:buClr>
              <a:buSzPts val="1600"/>
              <a:buFont typeface="Tahoma"/>
              <a:buNone/>
            </a:pPr>
            <a:r>
              <a:rPr lang="en-IN" sz="1600">
                <a:solidFill>
                  <a:schemeClr val="dk1"/>
                </a:solidFill>
                <a:latin typeface="Tahoma"/>
                <a:ea typeface="Tahoma"/>
                <a:cs typeface="Tahoma"/>
                <a:sym typeface="Tahoma"/>
              </a:rPr>
              <a:t>Designation: Assistant Professor (SG)</a:t>
            </a:r>
            <a:endParaRPr sz="1200">
              <a:solidFill>
                <a:schemeClr val="dk1"/>
              </a:solidFill>
              <a:latin typeface="Verdana"/>
              <a:ea typeface="Verdana"/>
              <a:cs typeface="Verdana"/>
              <a:sym typeface="Verdana"/>
            </a:endParaRPr>
          </a:p>
          <a:p>
            <a:pPr indent="0" lvl="0" marL="357187" rtl="0" algn="l">
              <a:lnSpc>
                <a:spcPct val="125000"/>
              </a:lnSpc>
              <a:spcBef>
                <a:spcPts val="0"/>
              </a:spcBef>
              <a:spcAft>
                <a:spcPts val="0"/>
              </a:spcAft>
              <a:buClr>
                <a:schemeClr val="dk1"/>
              </a:buClr>
              <a:buSzPts val="1600"/>
              <a:buFont typeface="Tahoma"/>
              <a:buNone/>
            </a:pPr>
            <a:r>
              <a:rPr lang="en-IN" sz="1600">
                <a:solidFill>
                  <a:schemeClr val="dk1"/>
                </a:solidFill>
                <a:latin typeface="Tahoma"/>
                <a:ea typeface="Tahoma"/>
                <a:cs typeface="Tahoma"/>
                <a:sym typeface="Tahoma"/>
              </a:rPr>
              <a:t>Department: CSE</a:t>
            </a:r>
            <a:endParaRPr sz="1200">
              <a:solidFill>
                <a:schemeClr val="dk1"/>
              </a:solidFill>
              <a:latin typeface="Verdana"/>
              <a:ea typeface="Verdana"/>
              <a:cs typeface="Verdana"/>
              <a:sym typeface="Verdana"/>
            </a:endParaRPr>
          </a:p>
          <a:p>
            <a:pPr indent="0" lvl="0" marL="360363" marR="0" rtl="0" algn="l">
              <a:lnSpc>
                <a:spcPct val="125000"/>
              </a:lnSpc>
              <a:spcBef>
                <a:spcPts val="0"/>
              </a:spcBef>
              <a:spcAft>
                <a:spcPts val="0"/>
              </a:spcAft>
              <a:buNone/>
            </a:pPr>
            <a:r>
              <a:rPr lang="en-IN" sz="1500">
                <a:solidFill>
                  <a:schemeClr val="dk1"/>
                </a:solidFill>
                <a:latin typeface="Tahoma"/>
                <a:ea typeface="Tahoma"/>
                <a:cs typeface="Tahoma"/>
                <a:sym typeface="Tahoma"/>
              </a:rPr>
              <a:t> </a:t>
            </a:r>
            <a:endParaRPr/>
          </a:p>
        </p:txBody>
      </p:sp>
      <p:pic>
        <p:nvPicPr>
          <p:cNvPr id="32" name="Google Shape;32;p1"/>
          <p:cNvPicPr preferRelativeResize="0"/>
          <p:nvPr/>
        </p:nvPicPr>
        <p:blipFill rotWithShape="1">
          <a:blip r:embed="rId3">
            <a:alphaModFix/>
          </a:blip>
          <a:srcRect b="0" l="0" r="0" t="0"/>
          <a:stretch/>
        </p:blipFill>
        <p:spPr>
          <a:xfrm>
            <a:off x="6852492" y="-165253"/>
            <a:ext cx="1178805" cy="895833"/>
          </a:xfrm>
          <a:prstGeom prst="rect">
            <a:avLst/>
          </a:prstGeom>
          <a:noFill/>
          <a:ln>
            <a:noFill/>
          </a:ln>
        </p:spPr>
      </p:pic>
      <p:pic>
        <p:nvPicPr>
          <p:cNvPr id="33" name="Google Shape;33;p1"/>
          <p:cNvPicPr preferRelativeResize="0"/>
          <p:nvPr/>
        </p:nvPicPr>
        <p:blipFill rotWithShape="1">
          <a:blip r:embed="rId4">
            <a:alphaModFix/>
          </a:blip>
          <a:srcRect b="0" l="0" r="0" t="0"/>
          <a:stretch/>
        </p:blipFill>
        <p:spPr>
          <a:xfrm>
            <a:off x="8054901" y="160424"/>
            <a:ext cx="1015707" cy="345492"/>
          </a:xfrm>
          <a:prstGeom prst="rect">
            <a:avLst/>
          </a:prstGeom>
          <a:noFill/>
          <a:ln>
            <a:noFill/>
          </a:ln>
        </p:spPr>
      </p:pic>
      <p:pic>
        <p:nvPicPr>
          <p:cNvPr descr="JUIT Office Photos | Glassdoor" id="34" name="Google Shape;34;p1"/>
          <p:cNvPicPr preferRelativeResize="0"/>
          <p:nvPr/>
        </p:nvPicPr>
        <p:blipFill rotWithShape="1">
          <a:blip r:embed="rId5">
            <a:alphaModFix/>
          </a:blip>
          <a:srcRect b="0" l="0" r="0" t="0"/>
          <a:stretch/>
        </p:blipFill>
        <p:spPr>
          <a:xfrm>
            <a:off x="11017" y="93342"/>
            <a:ext cx="815248" cy="67900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Outline</a:t>
            </a:r>
            <a:endParaRPr/>
          </a:p>
        </p:txBody>
      </p:sp>
      <p:sp>
        <p:nvSpPr>
          <p:cNvPr id="41" name="Google Shape;41;p2"/>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261938" lvl="0" marL="357188" marR="0" rtl="0" algn="just">
              <a:lnSpc>
                <a:spcPct val="140000"/>
              </a:lnSpc>
              <a:spcBef>
                <a:spcPts val="0"/>
              </a:spcBef>
              <a:spcAft>
                <a:spcPts val="0"/>
              </a:spcAft>
              <a:buClr>
                <a:schemeClr val="dk1"/>
              </a:buClr>
              <a:buSzPts val="2250"/>
              <a:buFont typeface="Arial"/>
              <a:buChar char="•"/>
            </a:pPr>
            <a:r>
              <a:rPr lang="en-IN" sz="1800">
                <a:solidFill>
                  <a:schemeClr val="dk1"/>
                </a:solidFill>
                <a:latin typeface="Helvetica Neue"/>
                <a:ea typeface="Helvetica Neue"/>
                <a:cs typeface="Helvetica Neue"/>
                <a:sym typeface="Helvetica Neue"/>
              </a:rPr>
              <a:t>I</a:t>
            </a:r>
            <a:r>
              <a:rPr lang="en-IN" sz="1500">
                <a:solidFill>
                  <a:schemeClr val="dk1"/>
                </a:solidFill>
                <a:latin typeface="Helvetica Neue"/>
                <a:ea typeface="Helvetica Neue"/>
                <a:cs typeface="Helvetica Neue"/>
                <a:sym typeface="Helvetica Neue"/>
              </a:rPr>
              <a:t>ntroduction</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Problem Statement</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Objectives</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Work Done (after Major Project - I)</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Project Design</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Implementation</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Experimental Results and Evaluation</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Key Learnings</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Work Plan (till End-Term Evaluation)</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Work Contribution and Attendance</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Supervisor Interactions</a:t>
            </a:r>
            <a:endParaRPr sz="1100"/>
          </a:p>
          <a:p>
            <a:pPr indent="-242888" lvl="0" marL="357188" marR="0" rtl="0" algn="just">
              <a:lnSpc>
                <a:spcPct val="140000"/>
              </a:lnSpc>
              <a:spcBef>
                <a:spcPts val="630"/>
              </a:spcBef>
              <a:spcAft>
                <a:spcPts val="0"/>
              </a:spcAft>
              <a:buClr>
                <a:schemeClr val="dk1"/>
              </a:buClr>
              <a:buSzPts val="1950"/>
              <a:buFont typeface="Arial"/>
              <a:buChar char="•"/>
            </a:pPr>
            <a:r>
              <a:rPr lang="en-IN" sz="1500">
                <a:solidFill>
                  <a:schemeClr val="dk1"/>
                </a:solidFill>
                <a:latin typeface="Helvetica Neue"/>
                <a:ea typeface="Helvetica Neue"/>
                <a:cs typeface="Helvetica Neue"/>
                <a:sym typeface="Helvetica Neue"/>
              </a:rPr>
              <a:t>References</a:t>
            </a:r>
            <a:endParaRPr sz="1100"/>
          </a:p>
          <a:p>
            <a:pPr indent="0" lvl="0" marL="0" marR="0" rtl="0" algn="just">
              <a:lnSpc>
                <a:spcPct val="150000"/>
              </a:lnSpc>
              <a:spcBef>
                <a:spcPts val="595"/>
              </a:spcBef>
              <a:spcAft>
                <a:spcPts val="0"/>
              </a:spcAft>
              <a:buClr>
                <a:schemeClr val="dk1"/>
              </a:buClr>
              <a:buSzPts val="2125"/>
              <a:buFont typeface="Arial"/>
              <a:buNone/>
            </a:pPr>
            <a:r>
              <a:t/>
            </a:r>
            <a:endParaRPr sz="1700">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Introduction</a:t>
            </a:r>
            <a:endParaRPr/>
          </a:p>
        </p:txBody>
      </p:sp>
      <p:sp>
        <p:nvSpPr>
          <p:cNvPr id="47" name="Google Shape;47;p3"/>
          <p:cNvSpPr txBox="1"/>
          <p:nvPr/>
        </p:nvSpPr>
        <p:spPr>
          <a:xfrm>
            <a:off x="-7" y="531568"/>
            <a:ext cx="8956800" cy="57948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b="1"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Char char="•"/>
            </a:pPr>
            <a:r>
              <a:rPr b="1" lang="en-IN" sz="1800">
                <a:solidFill>
                  <a:schemeClr val="dk1"/>
                </a:solidFill>
                <a:latin typeface="Helvetica Neue"/>
                <a:ea typeface="Helvetica Neue"/>
                <a:cs typeface="Helvetica Neue"/>
                <a:sym typeface="Helvetica Neue"/>
              </a:rPr>
              <a:t>Rapid Advancement of Deepfake Audio:</a:t>
            </a:r>
            <a:r>
              <a:rPr lang="en-IN" sz="1800">
                <a:solidFill>
                  <a:schemeClr val="dk1"/>
                </a:solidFill>
                <a:latin typeface="Helvetica Neue"/>
                <a:ea typeface="Helvetica Neue"/>
                <a:cs typeface="Helvetica Neue"/>
                <a:sym typeface="Helvetica Neue"/>
              </a:rPr>
              <a:t> AI-generated synthetic voices have become highly realistic, making them difficult to differentiate from genuine human speech.</a:t>
            </a:r>
            <a:endParaRPr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Char char="•"/>
            </a:pPr>
            <a:r>
              <a:rPr b="1" lang="en-IN" sz="1800">
                <a:solidFill>
                  <a:schemeClr val="dk1"/>
                </a:solidFill>
                <a:latin typeface="Helvetica Neue"/>
                <a:ea typeface="Helvetica Neue"/>
                <a:cs typeface="Helvetica Neue"/>
                <a:sym typeface="Helvetica Neue"/>
              </a:rPr>
              <a:t>Rising Threats:</a:t>
            </a:r>
            <a:r>
              <a:rPr lang="en-IN" sz="1800">
                <a:solidFill>
                  <a:schemeClr val="dk1"/>
                </a:solidFill>
                <a:latin typeface="Helvetica Neue"/>
                <a:ea typeface="Helvetica Neue"/>
                <a:cs typeface="Helvetica Neue"/>
                <a:sym typeface="Helvetica Neue"/>
              </a:rPr>
              <a:t> Deepfake audio can be misused for fraud, misinformation, and identity theft, posing serious security concerns.</a:t>
            </a:r>
            <a:endParaRPr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Char char="•"/>
            </a:pPr>
            <a:r>
              <a:rPr b="1" lang="en-IN" sz="1800">
                <a:solidFill>
                  <a:schemeClr val="dk1"/>
                </a:solidFill>
                <a:latin typeface="Helvetica Neue"/>
                <a:ea typeface="Helvetica Neue"/>
                <a:cs typeface="Helvetica Neue"/>
                <a:sym typeface="Helvetica Neue"/>
              </a:rPr>
              <a:t>Challenges in Detection:</a:t>
            </a:r>
            <a:r>
              <a:rPr lang="en-IN" sz="1800">
                <a:solidFill>
                  <a:schemeClr val="dk1"/>
                </a:solidFill>
                <a:latin typeface="Helvetica Neue"/>
                <a:ea typeface="Helvetica Neue"/>
                <a:cs typeface="Helvetica Neue"/>
                <a:sym typeface="Helvetica Neue"/>
              </a:rPr>
              <a:t> Traditional detection methods struggle to keep up with the sophistication of AI-generated voices.</a:t>
            </a:r>
            <a:endParaRPr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Char char="•"/>
            </a:pPr>
            <a:r>
              <a:rPr b="1" lang="en-IN" sz="1800">
                <a:solidFill>
                  <a:schemeClr val="dk1"/>
                </a:solidFill>
                <a:latin typeface="Helvetica Neue"/>
                <a:ea typeface="Helvetica Neue"/>
                <a:cs typeface="Helvetica Neue"/>
                <a:sym typeface="Helvetica Neue"/>
              </a:rPr>
              <a:t>Project Aim:</a:t>
            </a:r>
            <a:r>
              <a:rPr lang="en-IN" sz="1800">
                <a:solidFill>
                  <a:schemeClr val="dk1"/>
                </a:solidFill>
                <a:latin typeface="Helvetica Neue"/>
                <a:ea typeface="Helvetica Neue"/>
                <a:cs typeface="Helvetica Neue"/>
                <a:sym typeface="Helvetica Neue"/>
              </a:rPr>
              <a:t> This project focuses on detecting deepfake audio using MFCC feature extraction and an SVM classifier to enhance accuracy and robustness.</a:t>
            </a:r>
            <a:endParaRPr sz="1800">
              <a:solidFill>
                <a:schemeClr val="dk1"/>
              </a:solidFill>
              <a:latin typeface="Helvetica Neue"/>
              <a:ea typeface="Helvetica Neue"/>
              <a:cs typeface="Helvetica Neue"/>
              <a:sym typeface="Helvetica Neue"/>
            </a:endParaRPr>
          </a:p>
          <a:p>
            <a:pPr indent="-342900" lvl="0" marL="457200" rtl="0" algn="just">
              <a:lnSpc>
                <a:spcPct val="150000"/>
              </a:lnSpc>
              <a:spcBef>
                <a:spcPts val="0"/>
              </a:spcBef>
              <a:spcAft>
                <a:spcPts val="0"/>
              </a:spcAft>
              <a:buClr>
                <a:schemeClr val="dk1"/>
              </a:buClr>
              <a:buSzPts val="1800"/>
              <a:buChar char="•"/>
            </a:pPr>
            <a:r>
              <a:rPr b="1" lang="en-IN" sz="1800">
                <a:solidFill>
                  <a:schemeClr val="dk1"/>
                </a:solidFill>
                <a:latin typeface="Helvetica Neue"/>
                <a:ea typeface="Helvetica Neue"/>
                <a:cs typeface="Helvetica Neue"/>
                <a:sym typeface="Helvetica Neue"/>
              </a:rPr>
              <a:t>Machine Learning Approach:</a:t>
            </a:r>
            <a:r>
              <a:rPr lang="en-IN" sz="1800">
                <a:solidFill>
                  <a:schemeClr val="dk1"/>
                </a:solidFill>
                <a:latin typeface="Helvetica Neue"/>
                <a:ea typeface="Helvetica Neue"/>
                <a:cs typeface="Helvetica Neue"/>
                <a:sym typeface="Helvetica Neue"/>
              </a:rPr>
              <a:t> Unlike deep learning models that require high computational resources, this project utilizes efficient machine learning techniques for real-world applicability.</a:t>
            </a:r>
            <a:endParaRPr sz="1800">
              <a:solidFill>
                <a:schemeClr val="dk1"/>
              </a:solidFill>
              <a:latin typeface="Helvetica Neue"/>
              <a:ea typeface="Helvetica Neue"/>
              <a:cs typeface="Helvetica Neue"/>
              <a:sym typeface="Helvetica Neue"/>
            </a:endParaRPr>
          </a:p>
          <a:p>
            <a:pPr indent="0" lvl="0" marL="45720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4"/>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Problem Statement</a:t>
            </a:r>
            <a:endParaRPr/>
          </a:p>
        </p:txBody>
      </p:sp>
      <p:sp>
        <p:nvSpPr>
          <p:cNvPr id="53" name="Google Shape;53;p4"/>
          <p:cNvSpPr txBox="1"/>
          <p:nvPr/>
        </p:nvSpPr>
        <p:spPr>
          <a:xfrm>
            <a:off x="77118" y="804232"/>
            <a:ext cx="8956714" cy="5761822"/>
          </a:xfrm>
          <a:prstGeom prst="rect">
            <a:avLst/>
          </a:prstGeom>
          <a:noFill/>
          <a:ln>
            <a:noFill/>
          </a:ln>
        </p:spPr>
        <p:txBody>
          <a:bodyPr anchorCtr="0" anchor="t" bIns="45700" lIns="91425" spcFirstLastPara="1" rIns="91425" wrap="square" tIns="45700">
            <a:noAutofit/>
          </a:bodyPr>
          <a:lstStyle/>
          <a:p>
            <a:pPr indent="-415925" lvl="0" marL="457200" rtl="0" algn="just">
              <a:lnSpc>
                <a:spcPct val="150000"/>
              </a:lnSpc>
              <a:spcBef>
                <a:spcPts val="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Realistic Deepfake Audio:</a:t>
            </a:r>
            <a:r>
              <a:rPr lang="en-IN" sz="1800">
                <a:solidFill>
                  <a:schemeClr val="dk1"/>
                </a:solidFill>
                <a:latin typeface="Helvetica Neue"/>
                <a:ea typeface="Helvetica Neue"/>
                <a:cs typeface="Helvetica Neue"/>
                <a:sym typeface="Helvetica Neue"/>
              </a:rPr>
              <a:t> AI-generated audio has reached a level where it can convincingly mimic human voices, making detection increasingly difficult.</a:t>
            </a:r>
            <a:endParaRPr sz="1800">
              <a:solidFill>
                <a:schemeClr val="dk1"/>
              </a:solidFill>
              <a:latin typeface="Helvetica Neue"/>
              <a:ea typeface="Helvetica Neue"/>
              <a:cs typeface="Helvetica Neue"/>
              <a:sym typeface="Helvetica Neue"/>
            </a:endParaRPr>
          </a:p>
          <a:p>
            <a:pPr indent="0" lvl="0" marL="45720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415925" lvl="0" marL="457200" rtl="0" algn="just">
              <a:lnSpc>
                <a:spcPct val="150000"/>
              </a:lnSpc>
              <a:spcBef>
                <a:spcPts val="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Security and Trust Concerns:</a:t>
            </a:r>
            <a:r>
              <a:rPr lang="en-IN" sz="1800">
                <a:solidFill>
                  <a:schemeClr val="dk1"/>
                </a:solidFill>
                <a:latin typeface="Helvetica Neue"/>
                <a:ea typeface="Helvetica Neue"/>
                <a:cs typeface="Helvetica Neue"/>
                <a:sym typeface="Helvetica Neue"/>
              </a:rPr>
              <a:t> The misuse of deepfake technology for malicious activities, such as fraud and misinformation, has raised concerns about trust in digital communication.</a:t>
            </a:r>
            <a:endParaRPr sz="1800">
              <a:solidFill>
                <a:schemeClr val="dk1"/>
              </a:solidFill>
              <a:latin typeface="Helvetica Neue"/>
              <a:ea typeface="Helvetica Neue"/>
              <a:cs typeface="Helvetica Neue"/>
              <a:sym typeface="Helvetica Neue"/>
            </a:endParaRPr>
          </a:p>
          <a:p>
            <a:pPr indent="0" lvl="0" marL="45720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415925" lvl="0" marL="457200" rtl="0" algn="just">
              <a:lnSpc>
                <a:spcPct val="150000"/>
              </a:lnSpc>
              <a:spcBef>
                <a:spcPts val="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Need for Efficient Detection Models:</a:t>
            </a:r>
            <a:r>
              <a:rPr lang="en-IN" sz="1800">
                <a:solidFill>
                  <a:schemeClr val="dk1"/>
                </a:solidFill>
                <a:latin typeface="Helvetica Neue"/>
                <a:ea typeface="Helvetica Neue"/>
                <a:cs typeface="Helvetica Neue"/>
                <a:sym typeface="Helvetica Neue"/>
              </a:rPr>
              <a:t> Existing detection methods often rely on deep learning models, which require extensive computational resources. A lightweight yet accurate machine learning approach can provide an efficient alternative.</a:t>
            </a:r>
            <a:endParaRPr sz="1800">
              <a:solidFill>
                <a:schemeClr val="dk1"/>
              </a:solidFill>
              <a:latin typeface="Helvetica Neue"/>
              <a:ea typeface="Helvetica Neue"/>
              <a:cs typeface="Helvetica Neue"/>
              <a:sym typeface="Helvetica Neue"/>
            </a:endParaRPr>
          </a:p>
          <a:p>
            <a:pPr indent="0" lvl="0" marL="45720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Objectives</a:t>
            </a:r>
            <a:endParaRPr/>
          </a:p>
        </p:txBody>
      </p:sp>
      <p:sp>
        <p:nvSpPr>
          <p:cNvPr id="59" name="Google Shape;59;p5"/>
          <p:cNvSpPr txBox="1"/>
          <p:nvPr/>
        </p:nvSpPr>
        <p:spPr>
          <a:xfrm>
            <a:off x="40643" y="642982"/>
            <a:ext cx="8956800" cy="57618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t/>
            </a:r>
            <a:endParaRPr b="1" sz="1800">
              <a:solidFill>
                <a:schemeClr val="dk1"/>
              </a:solidFill>
              <a:latin typeface="Helvetica Neue"/>
              <a:ea typeface="Helvetica Neue"/>
              <a:cs typeface="Helvetica Neue"/>
              <a:sym typeface="Helvetica Neue"/>
            </a:endParaRPr>
          </a:p>
          <a:p>
            <a:pPr indent="-415925" lvl="0" marL="457200" rtl="0" algn="just">
              <a:lnSpc>
                <a:spcPct val="150000"/>
              </a:lnSpc>
              <a:spcBef>
                <a:spcPts val="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Develop an Accurate Classifier:</a:t>
            </a:r>
            <a:r>
              <a:rPr lang="en-IN" sz="1800">
                <a:solidFill>
                  <a:schemeClr val="dk1"/>
                </a:solidFill>
                <a:latin typeface="Helvetica Neue"/>
                <a:ea typeface="Helvetica Neue"/>
                <a:cs typeface="Helvetica Neue"/>
                <a:sym typeface="Helvetica Neue"/>
              </a:rPr>
              <a:t> Implement an SVM-based classifier trained on MFCC features to effectively distinguish between real and synthetic audio.</a:t>
            </a:r>
            <a:endParaRPr sz="1800">
              <a:solidFill>
                <a:schemeClr val="dk1"/>
              </a:solidFill>
              <a:latin typeface="Helvetica Neue"/>
              <a:ea typeface="Helvetica Neue"/>
              <a:cs typeface="Helvetica Neue"/>
              <a:sym typeface="Helvetica Neue"/>
            </a:endParaRPr>
          </a:p>
          <a:p>
            <a:pPr indent="0" lvl="0" marL="45720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415925" lvl="0" marL="457200" rtl="0" algn="just">
              <a:lnSpc>
                <a:spcPct val="150000"/>
              </a:lnSpc>
              <a:spcBef>
                <a:spcPts val="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Utilize Benchmark Datasets:</a:t>
            </a:r>
            <a:r>
              <a:rPr lang="en-IN" sz="1800">
                <a:solidFill>
                  <a:schemeClr val="dk1"/>
                </a:solidFill>
                <a:latin typeface="Helvetica Neue"/>
                <a:ea typeface="Helvetica Neue"/>
                <a:cs typeface="Helvetica Neue"/>
                <a:sym typeface="Helvetica Neue"/>
              </a:rPr>
              <a:t> Use the Fake-or-Real dataset, which provides diverse deepfake audio samples, to ensure a robust and generalizable model.</a:t>
            </a:r>
            <a:endParaRPr sz="1800">
              <a:solidFill>
                <a:schemeClr val="dk1"/>
              </a:solidFill>
              <a:latin typeface="Helvetica Neue"/>
              <a:ea typeface="Helvetica Neue"/>
              <a:cs typeface="Helvetica Neue"/>
              <a:sym typeface="Helvetica Neue"/>
            </a:endParaRPr>
          </a:p>
          <a:p>
            <a:pPr indent="0" lvl="0" marL="45720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415925" lvl="0" marL="457200" rtl="0" algn="just">
              <a:lnSpc>
                <a:spcPct val="150000"/>
              </a:lnSpc>
              <a:spcBef>
                <a:spcPts val="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Enhance Detection Performance:</a:t>
            </a:r>
            <a:r>
              <a:rPr lang="en-IN" sz="1800">
                <a:solidFill>
                  <a:schemeClr val="dk1"/>
                </a:solidFill>
                <a:latin typeface="Helvetica Neue"/>
                <a:ea typeface="Helvetica Neue"/>
                <a:cs typeface="Helvetica Neue"/>
                <a:sym typeface="Helvetica Neue"/>
              </a:rPr>
              <a:t> Optimize feature extraction and model parameters to improve detection accuracy while maintaining computational efficiency.</a:t>
            </a:r>
            <a:endParaRPr sz="1800">
              <a:solidFill>
                <a:schemeClr val="dk1"/>
              </a:solidFill>
              <a:latin typeface="Helvetica Neue"/>
              <a:ea typeface="Helvetica Neue"/>
              <a:cs typeface="Helvetica Neue"/>
              <a:sym typeface="Helvetica Neue"/>
            </a:endParaRPr>
          </a:p>
          <a:p>
            <a:pPr indent="0" lvl="0" marL="457200" marR="0" rtl="0" algn="just">
              <a:lnSpc>
                <a:spcPct val="150000"/>
              </a:lnSpc>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Work Done </a:t>
            </a:r>
            <a:r>
              <a:rPr b="0" lang="en-IN" sz="2400"/>
              <a:t>(after Major Project - I)</a:t>
            </a:r>
            <a:endParaRPr b="0"/>
          </a:p>
        </p:txBody>
      </p:sp>
      <p:sp>
        <p:nvSpPr>
          <p:cNvPr id="65" name="Google Shape;65;p6"/>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119062" lvl="0" marL="357187" rtl="0" algn="just">
              <a:lnSpc>
                <a:spcPct val="150000"/>
              </a:lnSpc>
              <a:spcBef>
                <a:spcPts val="0"/>
              </a:spcBef>
              <a:spcAft>
                <a:spcPts val="0"/>
              </a:spcAft>
              <a:buNone/>
            </a:pPr>
            <a:r>
              <a:rPr b="1" lang="en-IN" sz="1800">
                <a:solidFill>
                  <a:schemeClr val="dk1"/>
                </a:solidFill>
              </a:rPr>
              <a:t>Extended Research and Refinement</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Reviewed feedback from mid-evaluation to refine our understanding of the project scope.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Explored additional research papers to address identified gaps, focusing on advanced MFCC techniques and deepfake detection methodologies.</a:t>
            </a:r>
            <a:endParaRPr sz="1800">
              <a:solidFill>
                <a:schemeClr val="dk1"/>
              </a:solidFill>
            </a:endParaRPr>
          </a:p>
          <a:p>
            <a:pPr indent="0" lvl="0" marL="0" rtl="0" algn="l">
              <a:lnSpc>
                <a:spcPct val="115000"/>
              </a:lnSpc>
              <a:spcBef>
                <a:spcPts val="1200"/>
              </a:spcBef>
              <a:spcAft>
                <a:spcPts val="0"/>
              </a:spcAft>
              <a:buNone/>
            </a:pPr>
            <a:r>
              <a:rPr b="1" lang="en-IN" sz="1800">
                <a:solidFill>
                  <a:schemeClr val="dk1"/>
                </a:solidFill>
              </a:rPr>
              <a:t>   Back-End Development and Integration</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Implemented a robust back-end to handle audio processing and analysis workflows.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Designed APIs to ensure seamless communication between the front-end and core detection algorithms.</a:t>
            </a:r>
            <a:endParaRPr sz="1800">
              <a:solidFill>
                <a:schemeClr val="dk1"/>
              </a:solidFill>
            </a:endParaRPr>
          </a:p>
          <a:p>
            <a:pPr indent="0" lvl="0" marL="0" rtl="0" algn="l">
              <a:lnSpc>
                <a:spcPct val="115000"/>
              </a:lnSpc>
              <a:spcBef>
                <a:spcPts val="1200"/>
              </a:spcBef>
              <a:spcAft>
                <a:spcPts val="0"/>
              </a:spcAft>
              <a:buNone/>
            </a:pPr>
            <a:r>
              <a:rPr b="1" lang="en-IN" sz="1800">
                <a:solidFill>
                  <a:schemeClr val="dk1"/>
                </a:solidFill>
              </a:rPr>
              <a:t>   Core Algorithm Implementation</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Developed and integrated the MFCC (Mel Frequency Cepstral Coefficient)-based feature extraction module.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Implemented classification models leveraging machine learning techniques tailored for deepfake audio detection.</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7"/>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Project Design</a:t>
            </a:r>
            <a:endParaRPr/>
          </a:p>
        </p:txBody>
      </p:sp>
      <p:sp>
        <p:nvSpPr>
          <p:cNvPr id="71" name="Google Shape;71;p7"/>
          <p:cNvSpPr txBox="1"/>
          <p:nvPr/>
        </p:nvSpPr>
        <p:spPr>
          <a:xfrm>
            <a:off x="93643" y="771981"/>
            <a:ext cx="8956800" cy="57948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750"/>
              <a:buFont typeface="Arial"/>
              <a:buNone/>
            </a:pPr>
            <a:r>
              <a:rPr b="1" lang="en-IN">
                <a:solidFill>
                  <a:schemeClr val="dk1"/>
                </a:solidFill>
                <a:latin typeface="Helvetica Neue"/>
                <a:ea typeface="Helvetica Neue"/>
                <a:cs typeface="Helvetica Neue"/>
                <a:sym typeface="Helvetica Neue"/>
              </a:rPr>
              <a:t>Goal:</a:t>
            </a:r>
            <a:r>
              <a:rPr lang="en-IN">
                <a:solidFill>
                  <a:schemeClr val="dk1"/>
                </a:solidFill>
                <a:latin typeface="Helvetica Neue"/>
                <a:ea typeface="Helvetica Neue"/>
                <a:cs typeface="Helvetica Neue"/>
                <a:sym typeface="Helvetica Neue"/>
              </a:rPr>
              <a:t> Deliver a reliable, scalable, and interpretable solution for deepfake audio detection.</a:t>
            </a:r>
            <a:br>
              <a:rPr lang="en-IN">
                <a:solidFill>
                  <a:schemeClr val="dk1"/>
                </a:solidFill>
                <a:latin typeface="Helvetica Neue"/>
                <a:ea typeface="Helvetica Neue"/>
                <a:cs typeface="Helvetica Neue"/>
                <a:sym typeface="Helvetica Neue"/>
              </a:rPr>
            </a:br>
            <a:endParaRPr sz="1200">
              <a:solidFill>
                <a:schemeClr val="dk1"/>
              </a:solidFill>
              <a:latin typeface="Helvetica Neue"/>
              <a:ea typeface="Helvetica Neue"/>
              <a:cs typeface="Helvetica Neue"/>
              <a:sym typeface="Helvetica Neue"/>
            </a:endParaRPr>
          </a:p>
          <a:p>
            <a:pPr indent="0" lvl="0" marL="0" rtl="0" algn="just">
              <a:lnSpc>
                <a:spcPct val="150000"/>
              </a:lnSpc>
              <a:spcBef>
                <a:spcPts val="490"/>
              </a:spcBef>
              <a:spcAft>
                <a:spcPts val="0"/>
              </a:spcAft>
              <a:buClr>
                <a:schemeClr val="dk1"/>
              </a:buClr>
              <a:buSzPts val="1750"/>
              <a:buFont typeface="Arial"/>
              <a:buNone/>
            </a:pPr>
            <a:r>
              <a:rPr b="1" lang="en-IN">
                <a:solidFill>
                  <a:schemeClr val="dk1"/>
                </a:solidFill>
                <a:latin typeface="Helvetica Neue"/>
                <a:ea typeface="Helvetica Neue"/>
                <a:cs typeface="Helvetica Neue"/>
                <a:sym typeface="Helvetica Neue"/>
              </a:rPr>
              <a:t>  </a:t>
            </a:r>
            <a:endParaRPr>
              <a:solidFill>
                <a:schemeClr val="dk1"/>
              </a:solidFill>
              <a:latin typeface="Helvetica Neue"/>
              <a:ea typeface="Helvetica Neue"/>
              <a:cs typeface="Helvetica Neue"/>
              <a:sym typeface="Helvetica Neue"/>
            </a:endParaRPr>
          </a:p>
          <a:p>
            <a:pPr indent="0" lvl="0" marL="0" rtl="0" algn="just">
              <a:lnSpc>
                <a:spcPct val="150000"/>
              </a:lnSpc>
              <a:spcBef>
                <a:spcPts val="1400"/>
              </a:spcBef>
              <a:spcAft>
                <a:spcPts val="0"/>
              </a:spcAft>
              <a:buClr>
                <a:schemeClr val="dk1"/>
              </a:buClr>
              <a:buSzPts val="1500"/>
              <a:buFont typeface="Arial"/>
              <a:buNone/>
            </a:pPr>
            <a:r>
              <a:rPr lang="en-IN" sz="1200">
                <a:solidFill>
                  <a:schemeClr val="dk1"/>
                </a:solidFill>
                <a:latin typeface="Helvetica Neue"/>
                <a:ea typeface="Helvetica Neue"/>
                <a:cs typeface="Helvetica Neue"/>
                <a:sym typeface="Helvetica Neue"/>
              </a:rPr>
              <a:t>                                      </a:t>
            </a:r>
            <a:endParaRPr>
              <a:solidFill>
                <a:schemeClr val="dk1"/>
              </a:solidFill>
            </a:endParaRPr>
          </a:p>
          <a:p>
            <a:pPr indent="0" lvl="0" marL="0" rtl="0" algn="just">
              <a:lnSpc>
                <a:spcPct val="150000"/>
              </a:lnSpc>
              <a:spcBef>
                <a:spcPts val="2800"/>
              </a:spcBef>
              <a:spcAft>
                <a:spcPts val="0"/>
              </a:spcAft>
              <a:buClr>
                <a:schemeClr val="dk1"/>
              </a:buClr>
              <a:buSzPts val="1500"/>
              <a:buFont typeface="Arial"/>
              <a:buNone/>
            </a:pPr>
            <a:r>
              <a:t/>
            </a:r>
            <a:endParaRPr sz="1200">
              <a:solidFill>
                <a:schemeClr val="dk1"/>
              </a:solidFill>
              <a:latin typeface="Helvetica Neue"/>
              <a:ea typeface="Helvetica Neue"/>
              <a:cs typeface="Helvetica Neue"/>
              <a:sym typeface="Helvetica Neue"/>
            </a:endParaRPr>
          </a:p>
          <a:p>
            <a:pPr indent="0" lvl="0" marL="0" rtl="0" algn="just">
              <a:lnSpc>
                <a:spcPct val="150000"/>
              </a:lnSpc>
              <a:spcBef>
                <a:spcPts val="2800"/>
              </a:spcBef>
              <a:spcAft>
                <a:spcPts val="0"/>
              </a:spcAft>
              <a:buClr>
                <a:schemeClr val="dk1"/>
              </a:buClr>
              <a:buSzPts val="1500"/>
              <a:buFont typeface="Arial"/>
              <a:buNone/>
            </a:pPr>
            <a:r>
              <a:t/>
            </a:r>
            <a:endParaRPr sz="1200">
              <a:solidFill>
                <a:schemeClr val="dk1"/>
              </a:solidFill>
              <a:latin typeface="Helvetica Neue"/>
              <a:ea typeface="Helvetica Neue"/>
              <a:cs typeface="Helvetica Neue"/>
              <a:sym typeface="Helvetica Neue"/>
            </a:endParaRPr>
          </a:p>
          <a:p>
            <a:pPr indent="0" lvl="0" marL="0" rtl="0" algn="just">
              <a:lnSpc>
                <a:spcPct val="150000"/>
              </a:lnSpc>
              <a:spcBef>
                <a:spcPts val="2800"/>
              </a:spcBef>
              <a:spcAft>
                <a:spcPts val="0"/>
              </a:spcAft>
              <a:buClr>
                <a:schemeClr val="dk1"/>
              </a:buClr>
              <a:buSzPts val="1500"/>
              <a:buFont typeface="Arial"/>
              <a:buNone/>
            </a:pPr>
            <a:r>
              <a:t/>
            </a:r>
            <a:endParaRPr sz="1200">
              <a:solidFill>
                <a:schemeClr val="dk1"/>
              </a:solidFill>
              <a:latin typeface="Helvetica Neue"/>
              <a:ea typeface="Helvetica Neue"/>
              <a:cs typeface="Helvetica Neue"/>
              <a:sym typeface="Helvetica Neue"/>
            </a:endParaRPr>
          </a:p>
          <a:p>
            <a:pPr indent="0" lvl="0" marL="0" rtl="0" algn="just">
              <a:lnSpc>
                <a:spcPct val="150000"/>
              </a:lnSpc>
              <a:spcBef>
                <a:spcPts val="2800"/>
              </a:spcBef>
              <a:spcAft>
                <a:spcPts val="0"/>
              </a:spcAft>
              <a:buClr>
                <a:schemeClr val="dk1"/>
              </a:buClr>
              <a:buSzPts val="1500"/>
              <a:buFont typeface="Arial"/>
              <a:buNone/>
            </a:pPr>
            <a:r>
              <a:t/>
            </a:r>
            <a:endParaRPr sz="1200">
              <a:solidFill>
                <a:schemeClr val="dk1"/>
              </a:solidFill>
              <a:latin typeface="Helvetica Neue"/>
              <a:ea typeface="Helvetica Neue"/>
              <a:cs typeface="Helvetica Neue"/>
              <a:sym typeface="Helvetica Neue"/>
            </a:endParaRPr>
          </a:p>
          <a:p>
            <a:pPr indent="0" lvl="0" marL="0" rtl="0" algn="just">
              <a:lnSpc>
                <a:spcPct val="150000"/>
              </a:lnSpc>
              <a:spcBef>
                <a:spcPts val="2800"/>
              </a:spcBef>
              <a:spcAft>
                <a:spcPts val="0"/>
              </a:spcAft>
              <a:buClr>
                <a:schemeClr val="dk1"/>
              </a:buClr>
              <a:buSzPts val="1500"/>
              <a:buFont typeface="Arial"/>
              <a:buNone/>
            </a:pPr>
            <a:r>
              <a:rPr lang="en-IN" sz="1200">
                <a:solidFill>
                  <a:schemeClr val="dk1"/>
                </a:solidFill>
                <a:latin typeface="Helvetica Neue"/>
                <a:ea typeface="Helvetica Neue"/>
                <a:cs typeface="Helvetica Neue"/>
                <a:sym typeface="Helvetica Neue"/>
              </a:rPr>
              <a:t>                                                                              </a:t>
            </a:r>
            <a:r>
              <a:rPr b="1" lang="en-IN">
                <a:solidFill>
                  <a:schemeClr val="dk1"/>
                </a:solidFill>
                <a:latin typeface="Helvetica Neue"/>
                <a:ea typeface="Helvetica Neue"/>
                <a:cs typeface="Helvetica Neue"/>
                <a:sym typeface="Helvetica Neue"/>
              </a:rPr>
              <a:t>Figure 1: Workflow</a:t>
            </a:r>
            <a:endParaRPr>
              <a:solidFill>
                <a:schemeClr val="dk1"/>
              </a:solidFill>
            </a:endParaRPr>
          </a:p>
          <a:p>
            <a:pPr indent="0" lvl="0" marL="0" rtl="0" algn="l">
              <a:lnSpc>
                <a:spcPct val="150000"/>
              </a:lnSpc>
              <a:spcBef>
                <a:spcPts val="2800"/>
              </a:spcBef>
              <a:spcAft>
                <a:spcPts val="0"/>
              </a:spcAft>
              <a:buClr>
                <a:schemeClr val="dk1"/>
              </a:buClr>
              <a:buSzPts val="1500"/>
              <a:buFont typeface="Arial"/>
              <a:buNone/>
            </a:pPr>
            <a:r>
              <a:rPr lang="en-IN" sz="1200">
                <a:solidFill>
                  <a:schemeClr val="dk1"/>
                </a:solidFill>
                <a:latin typeface="Helvetica Neue"/>
                <a:ea typeface="Helvetica Neue"/>
                <a:cs typeface="Helvetica Neue"/>
                <a:sym typeface="Helvetica Neue"/>
              </a:rPr>
              <a:t> This diagram illustrates the step-by-step process of the deepfake audio detection system, starting with </a:t>
            </a:r>
            <a:r>
              <a:rPr b="1" lang="en-IN" sz="1200">
                <a:solidFill>
                  <a:schemeClr val="dk1"/>
                </a:solidFill>
                <a:latin typeface="Helvetica Neue"/>
                <a:ea typeface="Helvetica Neue"/>
                <a:cs typeface="Helvetica Neue"/>
                <a:sym typeface="Helvetica Neue"/>
              </a:rPr>
              <a:t>audio input</a:t>
            </a:r>
            <a:r>
              <a:rPr lang="en-IN" sz="1200">
                <a:solidFill>
                  <a:schemeClr val="dk1"/>
                </a:solidFill>
                <a:latin typeface="Helvetica Neue"/>
                <a:ea typeface="Helvetica Neue"/>
                <a:cs typeface="Helvetica Neue"/>
                <a:sym typeface="Helvetica Neue"/>
              </a:rPr>
              <a:t>, followed by </a:t>
            </a:r>
            <a:r>
              <a:rPr b="1" lang="en-IN" sz="1200">
                <a:solidFill>
                  <a:schemeClr val="dk1"/>
                </a:solidFill>
                <a:latin typeface="Helvetica Neue"/>
                <a:ea typeface="Helvetica Neue"/>
                <a:cs typeface="Helvetica Neue"/>
                <a:sym typeface="Helvetica Neue"/>
              </a:rPr>
              <a:t>preprocessing</a:t>
            </a:r>
            <a:r>
              <a:rPr lang="en-IN" sz="1200">
                <a:solidFill>
                  <a:schemeClr val="dk1"/>
                </a:solidFill>
                <a:latin typeface="Helvetica Neue"/>
                <a:ea typeface="Helvetica Neue"/>
                <a:cs typeface="Helvetica Neue"/>
                <a:sym typeface="Helvetica Neue"/>
              </a:rPr>
              <a:t> </a:t>
            </a:r>
            <a:r>
              <a:rPr b="1" lang="en-IN" sz="1200">
                <a:solidFill>
                  <a:schemeClr val="dk1"/>
                </a:solidFill>
                <a:latin typeface="Helvetica Neue"/>
                <a:ea typeface="Helvetica Neue"/>
                <a:cs typeface="Helvetica Neue"/>
                <a:sym typeface="Helvetica Neue"/>
              </a:rPr>
              <a:t>feature extraction</a:t>
            </a:r>
            <a:r>
              <a:rPr lang="en-IN" sz="1200">
                <a:solidFill>
                  <a:schemeClr val="dk1"/>
                </a:solidFill>
                <a:latin typeface="Helvetica Neue"/>
                <a:ea typeface="Helvetica Neue"/>
                <a:cs typeface="Helvetica Neue"/>
                <a:sym typeface="Helvetica Neue"/>
              </a:rPr>
              <a:t> and </a:t>
            </a:r>
            <a:r>
              <a:rPr b="1" lang="en-IN" sz="1200">
                <a:solidFill>
                  <a:schemeClr val="dk1"/>
                </a:solidFill>
                <a:latin typeface="Helvetica Neue"/>
                <a:ea typeface="Helvetica Neue"/>
                <a:cs typeface="Helvetica Neue"/>
                <a:sym typeface="Helvetica Neue"/>
              </a:rPr>
              <a:t>classification</a:t>
            </a:r>
            <a:r>
              <a:rPr lang="en-IN" sz="1200">
                <a:solidFill>
                  <a:schemeClr val="dk1"/>
                </a:solidFill>
                <a:latin typeface="Helvetica Neue"/>
                <a:ea typeface="Helvetica Neue"/>
                <a:cs typeface="Helvetica Neue"/>
                <a:sym typeface="Helvetica Neue"/>
              </a:rPr>
              <a:t> using machine learning models to predict authenticity, concluding with an </a:t>
            </a:r>
            <a:r>
              <a:rPr b="1" lang="en-IN" sz="1200">
                <a:solidFill>
                  <a:schemeClr val="dk1"/>
                </a:solidFill>
                <a:latin typeface="Helvetica Neue"/>
                <a:ea typeface="Helvetica Neue"/>
                <a:cs typeface="Helvetica Neue"/>
                <a:sym typeface="Helvetica Neue"/>
              </a:rPr>
              <a:t>output module</a:t>
            </a:r>
            <a:r>
              <a:rPr lang="en-IN" sz="1200">
                <a:solidFill>
                  <a:schemeClr val="dk1"/>
                </a:solidFill>
                <a:latin typeface="Helvetica Neue"/>
                <a:ea typeface="Helvetica Neue"/>
                <a:cs typeface="Helvetica Neue"/>
                <a:sym typeface="Helvetica Neue"/>
              </a:rPr>
              <a:t> that displays results and explanations.</a:t>
            </a:r>
            <a:endParaRPr sz="1800">
              <a:solidFill>
                <a:schemeClr val="dk1"/>
              </a:solidFill>
              <a:latin typeface="Helvetica Neue"/>
              <a:ea typeface="Helvetica Neue"/>
              <a:cs typeface="Helvetica Neue"/>
              <a:sym typeface="Helvetica Neue"/>
            </a:endParaRPr>
          </a:p>
        </p:txBody>
      </p:sp>
      <p:pic>
        <p:nvPicPr>
          <p:cNvPr id="72" name="Google Shape;72;p7"/>
          <p:cNvPicPr preferRelativeResize="0"/>
          <p:nvPr/>
        </p:nvPicPr>
        <p:blipFill rotWithShape="1">
          <a:blip r:embed="rId3">
            <a:alphaModFix/>
          </a:blip>
          <a:srcRect b="0" l="2181" r="0" t="0"/>
          <a:stretch/>
        </p:blipFill>
        <p:spPr>
          <a:xfrm>
            <a:off x="2296813" y="1295400"/>
            <a:ext cx="3816425" cy="3799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8"/>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Project Design </a:t>
            </a:r>
            <a:r>
              <a:rPr b="0" lang="en-IN" sz="2400"/>
              <a:t>(cont…)</a:t>
            </a:r>
            <a:endParaRPr b="0"/>
          </a:p>
        </p:txBody>
      </p:sp>
      <p:sp>
        <p:nvSpPr>
          <p:cNvPr id="78" name="Google Shape;78;p8"/>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2000"/>
              <a:buFont typeface="Arial"/>
              <a:buNone/>
            </a:pPr>
            <a:r>
              <a:rPr b="1" lang="en-IN" sz="1600">
                <a:solidFill>
                  <a:schemeClr val="dk1"/>
                </a:solidFill>
                <a:latin typeface="Helvetica Neue"/>
                <a:ea typeface="Helvetica Neue"/>
                <a:cs typeface="Helvetica Neue"/>
                <a:sym typeface="Helvetica Neue"/>
              </a:rPr>
              <a:t>Additional Modules:</a:t>
            </a:r>
            <a:endParaRPr sz="1600">
              <a:solidFill>
                <a:schemeClr val="dk1"/>
              </a:solidFill>
              <a:latin typeface="Helvetica Neue"/>
              <a:ea typeface="Helvetica Neue"/>
              <a:cs typeface="Helvetica Neue"/>
              <a:sym typeface="Helvetica Neue"/>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Feature Reduction Module:</a:t>
            </a:r>
            <a:endParaRPr>
              <a:solidFill>
                <a:schemeClr val="dk1"/>
              </a:solidFill>
              <a:latin typeface="Helvetica Neue"/>
              <a:ea typeface="Helvetica Neue"/>
              <a:cs typeface="Helvetica Neue"/>
              <a:sym typeface="Helvetica Neue"/>
            </a:endParaRPr>
          </a:p>
          <a:p>
            <a:pPr indent="-285750" lvl="1" marL="742950" rtl="0" algn="just">
              <a:lnSpc>
                <a:spcPct val="150000"/>
              </a:lnSpc>
              <a:spcBef>
                <a:spcPts val="490"/>
              </a:spcBef>
              <a:spcAft>
                <a:spcPts val="0"/>
              </a:spcAft>
              <a:buClr>
                <a:schemeClr val="dk1"/>
              </a:buClr>
              <a:buSzPts val="1400"/>
              <a:buChar char="•"/>
            </a:pPr>
            <a:r>
              <a:rPr b="1" lang="en-IN">
                <a:solidFill>
                  <a:schemeClr val="dk1"/>
                </a:solidFill>
                <a:latin typeface="Helvetica Neue"/>
                <a:ea typeface="Helvetica Neue"/>
                <a:cs typeface="Helvetica Neue"/>
                <a:sym typeface="Helvetica Neue"/>
              </a:rPr>
              <a:t>PCA:</a:t>
            </a:r>
            <a:r>
              <a:rPr lang="en-IN">
                <a:solidFill>
                  <a:schemeClr val="dk1"/>
                </a:solidFill>
                <a:latin typeface="Helvetica Neue"/>
                <a:ea typeface="Helvetica Neue"/>
                <a:cs typeface="Helvetica Neue"/>
                <a:sym typeface="Helvetica Neue"/>
              </a:rPr>
              <a:t> Reduces dimensionality for efficient training and inference.</a:t>
            </a:r>
            <a:endParaRPr>
              <a:solidFill>
                <a:schemeClr val="dk1"/>
              </a:solidFill>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Model Training Module:</a:t>
            </a:r>
            <a:endParaRPr>
              <a:solidFill>
                <a:schemeClr val="dk1"/>
              </a:solidFill>
              <a:latin typeface="Helvetica Neue"/>
              <a:ea typeface="Helvetica Neue"/>
              <a:cs typeface="Helvetica Neue"/>
              <a:sym typeface="Helvetica Neue"/>
            </a:endParaRPr>
          </a:p>
          <a:p>
            <a:pPr indent="-285750" lvl="1" marL="742950" rtl="0" algn="just">
              <a:lnSpc>
                <a:spcPct val="150000"/>
              </a:lnSpc>
              <a:spcBef>
                <a:spcPts val="490"/>
              </a:spcBef>
              <a:spcAft>
                <a:spcPts val="0"/>
              </a:spcAft>
              <a:buClr>
                <a:schemeClr val="dk1"/>
              </a:buClr>
              <a:buSzPts val="1400"/>
              <a:buChar char="•"/>
            </a:pPr>
            <a:r>
              <a:rPr lang="en-IN">
                <a:solidFill>
                  <a:schemeClr val="dk1"/>
                </a:solidFill>
                <a:latin typeface="Helvetica Neue"/>
                <a:ea typeface="Helvetica Neue"/>
                <a:cs typeface="Helvetica Neue"/>
                <a:sym typeface="Helvetica Neue"/>
              </a:rPr>
              <a:t>Tracks accuracy, precision, recall, F1-score, and Equal Error Rate (EER).</a:t>
            </a:r>
            <a:endParaRPr>
              <a:solidFill>
                <a:schemeClr val="dk1"/>
              </a:solidFill>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Visualization Module:</a:t>
            </a:r>
            <a:endParaRPr>
              <a:solidFill>
                <a:schemeClr val="dk1"/>
              </a:solidFill>
              <a:latin typeface="Helvetica Neue"/>
              <a:ea typeface="Helvetica Neue"/>
              <a:cs typeface="Helvetica Neue"/>
              <a:sym typeface="Helvetica Neue"/>
            </a:endParaRPr>
          </a:p>
          <a:p>
            <a:pPr indent="-285750" lvl="1" marL="742950" rtl="0" algn="just">
              <a:lnSpc>
                <a:spcPct val="150000"/>
              </a:lnSpc>
              <a:spcBef>
                <a:spcPts val="490"/>
              </a:spcBef>
              <a:spcAft>
                <a:spcPts val="0"/>
              </a:spcAft>
              <a:buClr>
                <a:schemeClr val="dk1"/>
              </a:buClr>
              <a:buSzPts val="1400"/>
              <a:buChar char="•"/>
            </a:pPr>
            <a:r>
              <a:rPr b="1" lang="en-IN">
                <a:solidFill>
                  <a:schemeClr val="dk1"/>
                </a:solidFill>
                <a:latin typeface="Helvetica Neue"/>
                <a:ea typeface="Helvetica Neue"/>
                <a:cs typeface="Helvetica Neue"/>
                <a:sym typeface="Helvetica Neue"/>
              </a:rPr>
              <a:t>TensorBoard:</a:t>
            </a:r>
            <a:r>
              <a:rPr lang="en-IN">
                <a:solidFill>
                  <a:schemeClr val="dk1"/>
                </a:solidFill>
                <a:latin typeface="Helvetica Neue"/>
                <a:ea typeface="Helvetica Neue"/>
                <a:cs typeface="Helvetica Neue"/>
                <a:sym typeface="Helvetica Neue"/>
              </a:rPr>
              <a:t> Visualizes metrics and results.</a:t>
            </a:r>
            <a:endParaRPr>
              <a:solidFill>
                <a:schemeClr val="dk1"/>
              </a:solidFill>
            </a:endParaRPr>
          </a:p>
          <a:p>
            <a:pPr indent="0" lvl="1" marL="457200" rtl="0" algn="just">
              <a:lnSpc>
                <a:spcPct val="150000"/>
              </a:lnSpc>
              <a:spcBef>
                <a:spcPts val="490"/>
              </a:spcBef>
              <a:spcAft>
                <a:spcPts val="0"/>
              </a:spcAft>
              <a:buClr>
                <a:schemeClr val="dk1"/>
              </a:buClr>
              <a:buSzPts val="1400"/>
              <a:buFont typeface="Courier New"/>
              <a:buNone/>
            </a:pPr>
            <a:r>
              <a:t/>
            </a:r>
            <a:endParaRPr>
              <a:solidFill>
                <a:schemeClr val="dk1"/>
              </a:solidFill>
              <a:latin typeface="Helvetica Neue"/>
              <a:ea typeface="Helvetica Neue"/>
              <a:cs typeface="Helvetica Neue"/>
              <a:sym typeface="Helvetica Neue"/>
            </a:endParaRPr>
          </a:p>
          <a:p>
            <a:pPr indent="0" lvl="0" marL="0" rtl="0" algn="just">
              <a:lnSpc>
                <a:spcPct val="150000"/>
              </a:lnSpc>
              <a:spcBef>
                <a:spcPts val="560"/>
              </a:spcBef>
              <a:spcAft>
                <a:spcPts val="0"/>
              </a:spcAft>
              <a:buClr>
                <a:schemeClr val="dk1"/>
              </a:buClr>
              <a:buSzPts val="2000"/>
              <a:buFont typeface="Arial"/>
              <a:buNone/>
            </a:pPr>
            <a:r>
              <a:rPr b="1" lang="en-IN" sz="1600">
                <a:solidFill>
                  <a:schemeClr val="dk1"/>
                </a:solidFill>
                <a:latin typeface="Helvetica Neue"/>
                <a:ea typeface="Helvetica Neue"/>
                <a:cs typeface="Helvetica Neue"/>
                <a:sym typeface="Helvetica Neue"/>
              </a:rPr>
              <a:t>Design Features:</a:t>
            </a:r>
            <a:endParaRPr sz="1600">
              <a:solidFill>
                <a:schemeClr val="dk1"/>
              </a:solidFill>
              <a:latin typeface="Helvetica Neue"/>
              <a:ea typeface="Helvetica Neue"/>
              <a:cs typeface="Helvetica Neue"/>
              <a:sym typeface="Helvetica Neue"/>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Modularity:</a:t>
            </a:r>
            <a:r>
              <a:rPr lang="en-IN">
                <a:solidFill>
                  <a:schemeClr val="dk1"/>
                </a:solidFill>
                <a:latin typeface="Helvetica Neue"/>
                <a:ea typeface="Helvetica Neue"/>
                <a:cs typeface="Helvetica Neue"/>
                <a:sym typeface="Helvetica Neue"/>
              </a:rPr>
              <a:t> Independent modules for easy upgrades.</a:t>
            </a:r>
            <a:endParaRPr>
              <a:solidFill>
                <a:schemeClr val="dk1"/>
              </a:solidFill>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Scalability:</a:t>
            </a:r>
            <a:r>
              <a:rPr lang="en-IN">
                <a:solidFill>
                  <a:schemeClr val="dk1"/>
                </a:solidFill>
                <a:latin typeface="Helvetica Neue"/>
                <a:ea typeface="Helvetica Neue"/>
                <a:cs typeface="Helvetica Neue"/>
                <a:sym typeface="Helvetica Neue"/>
              </a:rPr>
              <a:t> Handles large datasets and multiple data types.</a:t>
            </a:r>
            <a:endParaRPr>
              <a:solidFill>
                <a:schemeClr val="dk1"/>
              </a:solidFill>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Efficiency:</a:t>
            </a:r>
            <a:r>
              <a:rPr lang="en-IN">
                <a:solidFill>
                  <a:schemeClr val="dk1"/>
                </a:solidFill>
                <a:latin typeface="Helvetica Neue"/>
                <a:ea typeface="Helvetica Neue"/>
                <a:cs typeface="Helvetica Neue"/>
                <a:sym typeface="Helvetica Neue"/>
              </a:rPr>
              <a:t> Optimized for real-time applications.</a:t>
            </a:r>
            <a:endParaRPr>
              <a:solidFill>
                <a:schemeClr val="dk1"/>
              </a:solidFill>
            </a:endParaRPr>
          </a:p>
          <a:p>
            <a:pPr indent="-342900" lvl="0" marL="342900" rtl="0" algn="just">
              <a:lnSpc>
                <a:spcPct val="150000"/>
              </a:lnSpc>
              <a:spcBef>
                <a:spcPts val="490"/>
              </a:spcBef>
              <a:spcAft>
                <a:spcPts val="0"/>
              </a:spcAft>
              <a:buClr>
                <a:schemeClr val="dk1"/>
              </a:buClr>
              <a:buSzPts val="1750"/>
              <a:buChar char="•"/>
            </a:pPr>
            <a:r>
              <a:rPr b="1" lang="en-IN">
                <a:solidFill>
                  <a:schemeClr val="dk1"/>
                </a:solidFill>
                <a:latin typeface="Helvetica Neue"/>
                <a:ea typeface="Helvetica Neue"/>
                <a:cs typeface="Helvetica Neue"/>
                <a:sym typeface="Helvetica Neue"/>
              </a:rPr>
              <a:t>Transparency:</a:t>
            </a:r>
            <a:r>
              <a:rPr lang="en-IN">
                <a:solidFill>
                  <a:schemeClr val="dk1"/>
                </a:solidFill>
                <a:latin typeface="Helvetica Neue"/>
                <a:ea typeface="Helvetica Neue"/>
                <a:cs typeface="Helvetica Neue"/>
                <a:sym typeface="Helvetica Neue"/>
              </a:rPr>
              <a:t> Provides interpretable outputs to foster trust.</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0"/>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Implementation</a:t>
            </a:r>
            <a:endParaRPr/>
          </a:p>
        </p:txBody>
      </p:sp>
      <p:sp>
        <p:nvSpPr>
          <p:cNvPr id="84" name="Google Shape;84;p10"/>
          <p:cNvSpPr txBox="1"/>
          <p:nvPr/>
        </p:nvSpPr>
        <p:spPr>
          <a:xfrm>
            <a:off x="93593" y="675231"/>
            <a:ext cx="8956800" cy="5794800"/>
          </a:xfrm>
          <a:prstGeom prst="rect">
            <a:avLst/>
          </a:prstGeom>
          <a:noFill/>
          <a:ln>
            <a:noFill/>
          </a:ln>
        </p:spPr>
        <p:txBody>
          <a:bodyPr anchorCtr="0" anchor="t" bIns="45700" lIns="91425" spcFirstLastPara="1" rIns="91425" wrap="square" tIns="45700">
            <a:noAutofit/>
          </a:bodyPr>
          <a:lstStyle/>
          <a:p>
            <a:pPr indent="-323850" lvl="0" marL="457200" rtl="0" algn="l">
              <a:lnSpc>
                <a:spcPct val="115000"/>
              </a:lnSpc>
              <a:spcBef>
                <a:spcPts val="1200"/>
              </a:spcBef>
              <a:spcAft>
                <a:spcPts val="0"/>
              </a:spcAft>
              <a:buClr>
                <a:schemeClr val="dk1"/>
              </a:buClr>
              <a:buSzPts val="1500"/>
              <a:buAutoNum type="arabicParenR"/>
            </a:pPr>
            <a:r>
              <a:rPr b="1" lang="en-IN" sz="1500">
                <a:solidFill>
                  <a:schemeClr val="dk1"/>
                </a:solidFill>
              </a:rPr>
              <a:t>Preprocessing</a:t>
            </a:r>
            <a:endParaRPr b="1"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Tools</a:t>
            </a:r>
            <a:r>
              <a:rPr lang="en-IN" sz="1500">
                <a:solidFill>
                  <a:schemeClr val="dk1"/>
                </a:solidFill>
              </a:rPr>
              <a:t>: PyDub, LibROSA.</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Steps</a:t>
            </a:r>
            <a:r>
              <a:rPr lang="en-IN" sz="1500">
                <a:solidFill>
                  <a:schemeClr val="dk1"/>
                </a:solidFill>
              </a:rPr>
              <a:t>: Noise reduction, resampling (44.1 kHz), segmentation (2s chunks), and normalization.</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rPr>
              <a:t>2)   Feature Extraction</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IN" sz="1500">
                <a:solidFill>
                  <a:schemeClr val="dk1"/>
                </a:solidFill>
              </a:rPr>
              <a:t>Techniques</a:t>
            </a:r>
            <a:r>
              <a:rPr lang="en-IN" sz="1500">
                <a:solidFill>
                  <a:schemeClr val="dk1"/>
                </a:solidFill>
              </a:rPr>
              <a:t>: MFCC, spectral centroid, zero-crossing rate, spectral bandwidth, and spectral contrast.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Output</a:t>
            </a:r>
            <a:r>
              <a:rPr lang="en-IN" sz="1500">
                <a:solidFill>
                  <a:schemeClr val="dk1"/>
                </a:solidFill>
              </a:rPr>
              <a:t>: Features saved as numerical arrays.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rPr>
              <a:t>3)   Dimensionality Reduction</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IN" sz="1500">
                <a:solidFill>
                  <a:schemeClr val="dk1"/>
                </a:solidFill>
              </a:rPr>
              <a:t>Technique</a:t>
            </a:r>
            <a:r>
              <a:rPr lang="en-IN" sz="1500">
                <a:solidFill>
                  <a:schemeClr val="dk1"/>
                </a:solidFill>
              </a:rPr>
              <a:t>: PCA to minimize features and boost computational efficiency.</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rPr>
              <a:t>4)   Model Training</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IN" sz="1500">
                <a:solidFill>
                  <a:schemeClr val="dk1"/>
                </a:solidFill>
              </a:rPr>
              <a:t>Tools</a:t>
            </a:r>
            <a:r>
              <a:rPr lang="en-IN" sz="1500">
                <a:solidFill>
                  <a:schemeClr val="dk1"/>
                </a:solidFill>
              </a:rPr>
              <a:t>: TensorFlow, PyTorch, Scikit-learn.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Algorithms</a:t>
            </a:r>
            <a:r>
              <a:rPr lang="en-IN" sz="1500">
                <a:solidFill>
                  <a:schemeClr val="dk1"/>
                </a:solidFill>
              </a:rPr>
              <a:t>: SVM, XGB, CNN.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Steps</a:t>
            </a:r>
            <a:r>
              <a:rPr lang="en-IN" sz="1500">
                <a:solidFill>
                  <a:schemeClr val="dk1"/>
                </a:solidFill>
              </a:rPr>
              <a:t>: Train/test split (80/20), hyperparameter tuning, and training on processed data.</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500">
                <a:solidFill>
                  <a:schemeClr val="dk1"/>
                </a:solidFill>
              </a:rPr>
              <a:t>5)   Model Evaluation</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IN" sz="1500">
                <a:solidFill>
                  <a:schemeClr val="dk1"/>
                </a:solidFill>
              </a:rPr>
              <a:t>Metrics</a:t>
            </a:r>
            <a:r>
              <a:rPr lang="en-IN" sz="1500">
                <a:solidFill>
                  <a:schemeClr val="dk1"/>
                </a:solidFill>
              </a:rPr>
              <a:t>: Accuracy, precision, recall, F1-score, EER.</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Tools</a:t>
            </a:r>
            <a:r>
              <a:rPr lang="en-IN" sz="1500">
                <a:solidFill>
                  <a:schemeClr val="dk1"/>
                </a:solidFill>
              </a:rPr>
              <a:t>: TensorBoard, Scikit-learn.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IN" sz="1500">
                <a:solidFill>
                  <a:schemeClr val="dk1"/>
                </a:solidFill>
              </a:rPr>
              <a:t>Steps</a:t>
            </a:r>
            <a:r>
              <a:rPr lang="en-IN" sz="1500">
                <a:solidFill>
                  <a:schemeClr val="dk1"/>
                </a:solidFill>
              </a:rPr>
              <a:t>: Test on unseen data and compare performance.</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Implementation </a:t>
            </a:r>
            <a:r>
              <a:rPr b="0" lang="en-IN" sz="2400"/>
              <a:t>(cont…)</a:t>
            </a:r>
            <a:endParaRPr b="0"/>
          </a:p>
        </p:txBody>
      </p:sp>
      <p:sp>
        <p:nvSpPr>
          <p:cNvPr id="90" name="Google Shape;90;p11"/>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91" name="Google Shape;91;p11"/>
          <p:cNvPicPr preferRelativeResize="0"/>
          <p:nvPr/>
        </p:nvPicPr>
        <p:blipFill>
          <a:blip r:embed="rId3">
            <a:alphaModFix/>
          </a:blip>
          <a:stretch>
            <a:fillRect/>
          </a:stretch>
        </p:blipFill>
        <p:spPr>
          <a:xfrm>
            <a:off x="827100" y="861125"/>
            <a:ext cx="7002301" cy="2612425"/>
          </a:xfrm>
          <a:prstGeom prst="rect">
            <a:avLst/>
          </a:prstGeom>
          <a:noFill/>
          <a:ln>
            <a:noFill/>
          </a:ln>
        </p:spPr>
      </p:pic>
      <p:pic>
        <p:nvPicPr>
          <p:cNvPr id="92" name="Google Shape;92;p11"/>
          <p:cNvPicPr preferRelativeResize="0"/>
          <p:nvPr/>
        </p:nvPicPr>
        <p:blipFill>
          <a:blip r:embed="rId4">
            <a:alphaModFix/>
          </a:blip>
          <a:stretch>
            <a:fillRect/>
          </a:stretch>
        </p:blipFill>
        <p:spPr>
          <a:xfrm>
            <a:off x="827100" y="3610125"/>
            <a:ext cx="7002300" cy="2559125"/>
          </a:xfrm>
          <a:prstGeom prst="rect">
            <a:avLst/>
          </a:prstGeom>
          <a:noFill/>
          <a:ln>
            <a:noFill/>
          </a:ln>
        </p:spPr>
      </p:pic>
      <p:sp>
        <p:nvSpPr>
          <p:cNvPr id="93" name="Google Shape;93;p11"/>
          <p:cNvSpPr txBox="1"/>
          <p:nvPr/>
        </p:nvSpPr>
        <p:spPr>
          <a:xfrm>
            <a:off x="2821500" y="6233750"/>
            <a:ext cx="3013500" cy="2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chemeClr val="dk1"/>
                </a:solidFill>
                <a:latin typeface="Helvetica Neue"/>
                <a:ea typeface="Helvetica Neue"/>
                <a:cs typeface="Helvetica Neue"/>
                <a:sym typeface="Helvetica Neue"/>
              </a:rPr>
              <a:t>Figure 2: React implementation</a:t>
            </a:r>
            <a:endParaRPr b="1">
              <a:solidFill>
                <a:schemeClr val="dk1"/>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2"/>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7" rtl="0" algn="l">
              <a:spcBef>
                <a:spcPts val="0"/>
              </a:spcBef>
              <a:spcAft>
                <a:spcPts val="0"/>
              </a:spcAft>
              <a:buNone/>
            </a:pPr>
            <a:r>
              <a:rPr lang="en-IN" sz="2400"/>
              <a:t>Implementation </a:t>
            </a:r>
            <a:r>
              <a:rPr b="0" lang="en-IN" sz="2400"/>
              <a:t>(cont…)</a:t>
            </a:r>
            <a:endParaRPr b="0"/>
          </a:p>
        </p:txBody>
      </p:sp>
      <p:sp>
        <p:nvSpPr>
          <p:cNvPr id="99" name="Google Shape;99;p12"/>
          <p:cNvSpPr txBox="1"/>
          <p:nvPr/>
        </p:nvSpPr>
        <p:spPr>
          <a:xfrm>
            <a:off x="93593" y="633106"/>
            <a:ext cx="8956800" cy="5794800"/>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00" name="Google Shape;100;p12"/>
          <p:cNvPicPr preferRelativeResize="0"/>
          <p:nvPr/>
        </p:nvPicPr>
        <p:blipFill>
          <a:blip r:embed="rId3">
            <a:alphaModFix/>
          </a:blip>
          <a:stretch>
            <a:fillRect/>
          </a:stretch>
        </p:blipFill>
        <p:spPr>
          <a:xfrm>
            <a:off x="1047538" y="724687"/>
            <a:ext cx="6641477" cy="5703224"/>
          </a:xfrm>
          <a:prstGeom prst="rect">
            <a:avLst/>
          </a:prstGeom>
          <a:noFill/>
          <a:ln>
            <a:noFill/>
          </a:ln>
        </p:spPr>
      </p:pic>
      <p:sp>
        <p:nvSpPr>
          <p:cNvPr id="101" name="Google Shape;101;p1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2" name="Google Shape;102;p12"/>
          <p:cNvSpPr txBox="1"/>
          <p:nvPr/>
        </p:nvSpPr>
        <p:spPr>
          <a:xfrm>
            <a:off x="2514450" y="6363425"/>
            <a:ext cx="411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solidFill>
                  <a:schemeClr val="dk1"/>
                </a:solidFill>
                <a:latin typeface="Helvetica Neue"/>
                <a:ea typeface="Helvetica Neue"/>
                <a:cs typeface="Helvetica Neue"/>
                <a:sym typeface="Helvetica Neue"/>
              </a:rPr>
              <a:t>Figure 3: Flask logic implementation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Experimental Results and Evaluation</a:t>
            </a:r>
            <a:endParaRPr/>
          </a:p>
        </p:txBody>
      </p:sp>
      <p:pic>
        <p:nvPicPr>
          <p:cNvPr id="108" name="Google Shape;108;p13"/>
          <p:cNvPicPr preferRelativeResize="0"/>
          <p:nvPr/>
        </p:nvPicPr>
        <p:blipFill>
          <a:blip r:embed="rId3">
            <a:alphaModFix/>
          </a:blip>
          <a:stretch>
            <a:fillRect/>
          </a:stretch>
        </p:blipFill>
        <p:spPr>
          <a:xfrm>
            <a:off x="77125" y="1020600"/>
            <a:ext cx="8956698" cy="4712124"/>
          </a:xfrm>
          <a:prstGeom prst="rect">
            <a:avLst/>
          </a:prstGeom>
          <a:noFill/>
          <a:ln>
            <a:noFill/>
          </a:ln>
        </p:spPr>
      </p:pic>
      <p:sp>
        <p:nvSpPr>
          <p:cNvPr id="109" name="Google Shape;109;p13"/>
          <p:cNvSpPr txBox="1"/>
          <p:nvPr/>
        </p:nvSpPr>
        <p:spPr>
          <a:xfrm>
            <a:off x="2948850" y="6028775"/>
            <a:ext cx="3246300" cy="362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IN">
                <a:solidFill>
                  <a:schemeClr val="dk1"/>
                </a:solidFill>
                <a:latin typeface="Helvetica Neue"/>
                <a:ea typeface="Helvetica Neue"/>
                <a:cs typeface="Helvetica Neue"/>
                <a:sym typeface="Helvetica Neue"/>
              </a:rPr>
              <a:t>Figure 4: User Interface of project</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4"/>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Experimental Results and Evaluation </a:t>
            </a:r>
            <a:r>
              <a:rPr b="0" lang="en-IN" sz="2400"/>
              <a:t>(cont…)</a:t>
            </a:r>
            <a:endParaRPr b="0"/>
          </a:p>
        </p:txBody>
      </p:sp>
      <p:sp>
        <p:nvSpPr>
          <p:cNvPr id="115" name="Google Shape;115;p14"/>
          <p:cNvSpPr txBox="1"/>
          <p:nvPr/>
        </p:nvSpPr>
        <p:spPr>
          <a:xfrm>
            <a:off x="77118" y="804232"/>
            <a:ext cx="8956714" cy="5783856"/>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16" name="Google Shape;116;p14"/>
          <p:cNvPicPr preferRelativeResize="0"/>
          <p:nvPr/>
        </p:nvPicPr>
        <p:blipFill>
          <a:blip r:embed="rId3">
            <a:alphaModFix/>
          </a:blip>
          <a:stretch>
            <a:fillRect/>
          </a:stretch>
        </p:blipFill>
        <p:spPr>
          <a:xfrm>
            <a:off x="100388" y="1025900"/>
            <a:ext cx="8910174" cy="5144150"/>
          </a:xfrm>
          <a:prstGeom prst="rect">
            <a:avLst/>
          </a:prstGeom>
          <a:noFill/>
          <a:ln>
            <a:noFill/>
          </a:ln>
        </p:spPr>
      </p:pic>
      <p:sp>
        <p:nvSpPr>
          <p:cNvPr id="117" name="Google Shape;117;p14"/>
          <p:cNvSpPr txBox="1"/>
          <p:nvPr/>
        </p:nvSpPr>
        <p:spPr>
          <a:xfrm>
            <a:off x="2960625" y="6170050"/>
            <a:ext cx="3370800" cy="488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IN">
                <a:solidFill>
                  <a:schemeClr val="dk1"/>
                </a:solidFill>
                <a:latin typeface="Helvetica Neue"/>
                <a:ea typeface="Helvetica Neue"/>
                <a:cs typeface="Helvetica Neue"/>
                <a:sym typeface="Helvetica Neue"/>
              </a:rPr>
              <a:t>Figure 5: Model Output using Python</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Experimental Results and Evaluation </a:t>
            </a:r>
            <a:r>
              <a:rPr b="0" lang="en-IN" sz="2400"/>
              <a:t>(cont…)</a:t>
            </a:r>
            <a:endParaRPr b="0"/>
          </a:p>
        </p:txBody>
      </p:sp>
      <p:sp>
        <p:nvSpPr>
          <p:cNvPr id="123" name="Google Shape;123;p15"/>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id="124" name="Google Shape;124;p15"/>
          <p:cNvPicPr preferRelativeResize="0"/>
          <p:nvPr/>
        </p:nvPicPr>
        <p:blipFill rotWithShape="1">
          <a:blip r:embed="rId3">
            <a:alphaModFix/>
          </a:blip>
          <a:srcRect b="4984" l="0" r="0" t="11382"/>
          <a:stretch/>
        </p:blipFill>
        <p:spPr>
          <a:xfrm>
            <a:off x="2147450" y="948050"/>
            <a:ext cx="4333875" cy="2514600"/>
          </a:xfrm>
          <a:prstGeom prst="rect">
            <a:avLst/>
          </a:prstGeom>
          <a:noFill/>
          <a:ln>
            <a:noFill/>
          </a:ln>
        </p:spPr>
      </p:pic>
      <p:pic>
        <p:nvPicPr>
          <p:cNvPr id="125" name="Google Shape;125;p15"/>
          <p:cNvPicPr preferRelativeResize="0"/>
          <p:nvPr/>
        </p:nvPicPr>
        <p:blipFill rotWithShape="1">
          <a:blip r:embed="rId4">
            <a:alphaModFix/>
          </a:blip>
          <a:srcRect b="6435" l="0" r="0" t="7992"/>
          <a:stretch/>
        </p:blipFill>
        <p:spPr>
          <a:xfrm>
            <a:off x="2190313" y="3554050"/>
            <a:ext cx="4248150" cy="2514600"/>
          </a:xfrm>
          <a:prstGeom prst="rect">
            <a:avLst/>
          </a:prstGeom>
          <a:noFill/>
          <a:ln>
            <a:noFill/>
          </a:ln>
        </p:spPr>
      </p:pic>
      <p:sp>
        <p:nvSpPr>
          <p:cNvPr id="126" name="Google Shape;126;p15"/>
          <p:cNvSpPr txBox="1"/>
          <p:nvPr/>
        </p:nvSpPr>
        <p:spPr>
          <a:xfrm>
            <a:off x="2693350" y="6068650"/>
            <a:ext cx="3242100" cy="354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IN">
                <a:solidFill>
                  <a:schemeClr val="dk1"/>
                </a:solidFill>
                <a:latin typeface="Helvetica Neue"/>
                <a:ea typeface="Helvetica Neue"/>
                <a:cs typeface="Helvetica Neue"/>
                <a:sym typeface="Helvetica Neue"/>
              </a:rPr>
              <a:t>Figure 6: Model output on App.py</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Key Learnings</a:t>
            </a:r>
            <a:endParaRPr/>
          </a:p>
        </p:txBody>
      </p:sp>
      <p:sp>
        <p:nvSpPr>
          <p:cNvPr id="132" name="Google Shape;132;p16"/>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415925" lvl="0" marL="457200" rtl="0" algn="just">
              <a:lnSpc>
                <a:spcPct val="115000"/>
              </a:lnSpc>
              <a:spcBef>
                <a:spcPts val="63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Challenges in Deepfake Audio Detection:</a:t>
            </a:r>
            <a:r>
              <a:rPr lang="en-IN" sz="1800">
                <a:solidFill>
                  <a:schemeClr val="dk1"/>
                </a:solidFill>
                <a:latin typeface="Helvetica Neue"/>
                <a:ea typeface="Helvetica Neue"/>
                <a:cs typeface="Helvetica Neue"/>
                <a:sym typeface="Helvetica Neue"/>
              </a:rPr>
              <a:t> Unlike video deepfakes, detecting deepfake audio presents unique challenges due to the high realism of synthetic voices and the lack of visible artifacts. Effective detection requires robust feature extraction techniques and advanced machine learning models to differentiate real and fake audio.</a:t>
            </a:r>
            <a:endParaRPr sz="1800">
              <a:solidFill>
                <a:schemeClr val="dk1"/>
              </a:solidFill>
              <a:latin typeface="Helvetica Neue"/>
              <a:ea typeface="Helvetica Neue"/>
              <a:cs typeface="Helvetica Neue"/>
              <a:sym typeface="Helvetica Neue"/>
            </a:endParaRPr>
          </a:p>
          <a:p>
            <a:pPr indent="-415925" lvl="0" marL="457200" rtl="0" algn="just">
              <a:lnSpc>
                <a:spcPct val="115000"/>
              </a:lnSpc>
              <a:spcBef>
                <a:spcPts val="63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Importance of Diverse and High-Quality Datasets:</a:t>
            </a:r>
            <a:r>
              <a:rPr lang="en-IN" sz="1800">
                <a:solidFill>
                  <a:schemeClr val="dk1"/>
                </a:solidFill>
                <a:latin typeface="Helvetica Neue"/>
                <a:ea typeface="Helvetica Neue"/>
                <a:cs typeface="Helvetica Neue"/>
                <a:sym typeface="Helvetica Neue"/>
              </a:rPr>
              <a:t> Many existing datasets lack sufficient variety and volume, limiting the generalization of detection models. This project highlights the necessity of benchmark datasets like Fake-or-Real to train models effectively and improve detection across various deepfake scenarios.</a:t>
            </a:r>
            <a:endParaRPr sz="1800">
              <a:solidFill>
                <a:schemeClr val="dk1"/>
              </a:solidFill>
              <a:latin typeface="Helvetica Neue"/>
              <a:ea typeface="Helvetica Neue"/>
              <a:cs typeface="Helvetica Neue"/>
              <a:sym typeface="Helvetica Neue"/>
            </a:endParaRPr>
          </a:p>
          <a:p>
            <a:pPr indent="-415925" lvl="0" marL="457200" rtl="0" algn="just">
              <a:lnSpc>
                <a:spcPct val="115000"/>
              </a:lnSpc>
              <a:spcBef>
                <a:spcPts val="630"/>
              </a:spcBef>
              <a:spcAft>
                <a:spcPts val="0"/>
              </a:spcAft>
              <a:buClr>
                <a:schemeClr val="dk1"/>
              </a:buClr>
              <a:buSzPts val="2950"/>
              <a:buChar char="•"/>
            </a:pPr>
            <a:r>
              <a:rPr b="1" lang="en-IN" sz="1800">
                <a:solidFill>
                  <a:schemeClr val="dk1"/>
                </a:solidFill>
                <a:latin typeface="Helvetica Neue"/>
                <a:ea typeface="Helvetica Neue"/>
                <a:cs typeface="Helvetica Neue"/>
                <a:sym typeface="Helvetica Neue"/>
              </a:rPr>
              <a:t>Balancing Accuracy and Efficiency:</a:t>
            </a:r>
            <a:r>
              <a:rPr lang="en-IN" sz="1800">
                <a:solidFill>
                  <a:schemeClr val="dk1"/>
                </a:solidFill>
                <a:latin typeface="Helvetica Neue"/>
                <a:ea typeface="Helvetica Neue"/>
                <a:cs typeface="Helvetica Neue"/>
                <a:sym typeface="Helvetica Neue"/>
              </a:rPr>
              <a:t> Achieving high detection accuracy often comes at the cost of increased computational complexity. However, real-time applications, such as fraud prevention and social media monitoring, require lightweight yet effective models. This project explores optimization techniques to enhance both detection performance and real-time feasibility.</a:t>
            </a:r>
            <a:endParaRPr sz="1800">
              <a:solidFill>
                <a:schemeClr val="dk1"/>
              </a:solidFill>
              <a:latin typeface="Helvetica Neue"/>
              <a:ea typeface="Helvetica Neue"/>
              <a:cs typeface="Helvetica Neue"/>
              <a:sym typeface="Helvetica Neue"/>
            </a:endParaRPr>
          </a:p>
          <a:p>
            <a:pPr indent="0" lvl="0" marL="457200" marR="0" rtl="0" algn="just">
              <a:lnSpc>
                <a:spcPct val="150000"/>
              </a:lnSpc>
              <a:spcBef>
                <a:spcPts val="63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txBox="1"/>
          <p:nvPr>
            <p:ph type="title"/>
          </p:nvPr>
        </p:nvSpPr>
        <p:spPr>
          <a:xfrm>
            <a:off x="40640" y="30480"/>
            <a:ext cx="8328900" cy="694200"/>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Work Plan </a:t>
            </a:r>
            <a:r>
              <a:rPr b="0" lang="en-IN" sz="2400"/>
              <a:t>(till End-Term Evaluation)</a:t>
            </a:r>
            <a:endParaRPr b="0"/>
          </a:p>
        </p:txBody>
      </p:sp>
      <p:sp>
        <p:nvSpPr>
          <p:cNvPr id="138" name="Google Shape;138;p17"/>
          <p:cNvSpPr txBox="1"/>
          <p:nvPr/>
        </p:nvSpPr>
        <p:spPr>
          <a:xfrm>
            <a:off x="77118" y="804231"/>
            <a:ext cx="8956800" cy="57948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b="1" lang="en-IN" sz="1800">
                <a:solidFill>
                  <a:schemeClr val="dk1"/>
                </a:solidFill>
              </a:rPr>
              <a:t>Advanced Implementation</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Optimize existing models and refine algorithms for enhanced performance.</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Integrate additional features for improved detection accuracy.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rPr>
              <a:t>Testing and Validation</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Conduct extensive testing on diverse and larger datasets (e.g., ASVSpoof 2021).</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Validate the model’s performance under various real-world conditions and spoofing techniques.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rPr>
              <a:t>Documentation</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Compile comprehensive project documentation, including methodologies, results, and challenges.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Ensure code comments and repository organization are clear and detailed.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IN" sz="1800">
                <a:solidFill>
                  <a:schemeClr val="dk1"/>
                </a:solidFill>
              </a:rPr>
              <a:t>Final Write-Up</a:t>
            </a:r>
            <a:endParaRPr b="1"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Prepare detailed reports for academic evaluation, including findings, limitations, and future scope.</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IN" sz="1800">
                <a:solidFill>
                  <a:schemeClr val="dk1"/>
                </a:solidFill>
              </a:rPr>
              <a:t>Develop a presentation to effectively communicate the project outcomes.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a:t>Work Contribution and Attendance</a:t>
            </a:r>
            <a:endParaRPr b="0"/>
          </a:p>
        </p:txBody>
      </p:sp>
      <p:sp>
        <p:nvSpPr>
          <p:cNvPr id="144" name="Google Shape;144;p18"/>
          <p:cNvSpPr txBox="1"/>
          <p:nvPr/>
        </p:nvSpPr>
        <p:spPr>
          <a:xfrm>
            <a:off x="77118" y="804231"/>
            <a:ext cx="8956714" cy="5172419"/>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45" name="Google Shape;145;p18"/>
          <p:cNvGraphicFramePr/>
          <p:nvPr/>
        </p:nvGraphicFramePr>
        <p:xfrm>
          <a:off x="110168" y="881350"/>
          <a:ext cx="3000000" cy="3000000"/>
        </p:xfrm>
        <a:graphic>
          <a:graphicData uri="http://schemas.openxmlformats.org/drawingml/2006/table">
            <a:tbl>
              <a:tblPr bandRow="1" firstRow="1">
                <a:noFill/>
                <a:tableStyleId>{897190CF-AEDB-45CF-8660-BB9973AB6C2E}</a:tableStyleId>
              </a:tblPr>
              <a:tblGrid>
                <a:gridCol w="801275"/>
                <a:gridCol w="879050"/>
                <a:gridCol w="4265400"/>
                <a:gridCol w="1139000"/>
                <a:gridCol w="786550"/>
                <a:gridCol w="1044000"/>
              </a:tblGrid>
              <a:tr h="507400">
                <a:tc gridSpan="6">
                  <a:txBody>
                    <a:bodyPr/>
                    <a:lstStyle/>
                    <a:p>
                      <a:pPr indent="0" lvl="0" marL="0" marR="0" rtl="0" algn="l">
                        <a:spcBef>
                          <a:spcPts val="0"/>
                        </a:spcBef>
                        <a:spcAft>
                          <a:spcPts val="0"/>
                        </a:spcAft>
                        <a:buNone/>
                      </a:pPr>
                      <a:r>
                        <a:rPr b="1" i="0" lang="en-IN" sz="1300" u="none" cap="none" strike="noStrike">
                          <a:solidFill>
                            <a:schemeClr val="dk1"/>
                          </a:solidFill>
                          <a:latin typeface="Helvetica Neue"/>
                          <a:ea typeface="Helvetica Neue"/>
                          <a:cs typeface="Helvetica Neue"/>
                          <a:sym typeface="Helvetica Neue"/>
                        </a:rPr>
                        <a:t>GitHub Repository URL:  https://github.com/aditipandey2/G64</a:t>
                      </a:r>
                      <a:endParaRPr/>
                    </a:p>
                  </a:txBody>
                  <a:tcPr marT="45725" marB="45725" marR="91450" marL="91450" anchor="ctr">
                    <a:solidFill>
                      <a:srgbClr val="D5D59B"/>
                    </a:solidFill>
                  </a:tcPr>
                </a:tc>
                <a:tc hMerge="1"/>
                <a:tc hMerge="1"/>
                <a:tc hMerge="1"/>
                <a:tc hMerge="1"/>
                <a:tc hMerge="1"/>
              </a:tr>
              <a:tr h="507400">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Team Member</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Roll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Work Done</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(provide complete details)</a:t>
                      </a:r>
                      <a:endParaRPr/>
                    </a:p>
                  </a:txBody>
                  <a:tcPr marT="45725" marB="45725" marR="91450" marL="91450">
                    <a:solidFill>
                      <a:srgbClr val="D5D59B"/>
                    </a:solidFill>
                  </a:tcPr>
                </a:tc>
                <a:tc>
                  <a:txBody>
                    <a:bodyPr/>
                    <a:lstStyle/>
                    <a:p>
                      <a:pPr indent="0" lvl="0" marL="0" marR="0" rtl="0" algn="ctr">
                        <a:lnSpc>
                          <a:spcPct val="100000"/>
                        </a:lnSpc>
                        <a:spcBef>
                          <a:spcPts val="0"/>
                        </a:spcBef>
                        <a:spcAft>
                          <a:spcPts val="0"/>
                        </a:spcAft>
                        <a:buClr>
                          <a:schemeClr val="dk1"/>
                        </a:buClr>
                        <a:buSzPts val="1300"/>
                        <a:buFont typeface="Helvetica Neue"/>
                        <a:buNone/>
                      </a:pPr>
                      <a:r>
                        <a:rPr b="0" i="0" lang="en-IN" sz="1300" u="none" cap="none" strike="noStrike">
                          <a:solidFill>
                            <a:schemeClr val="dk1"/>
                          </a:solidFill>
                          <a:latin typeface="Helvetica Neue"/>
                          <a:ea typeface="Helvetica Neue"/>
                          <a:cs typeface="Helvetica Neue"/>
                          <a:sym typeface="Helvetica Neue"/>
                        </a:rPr>
                        <a:t>Work Contribution (%)</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Lines of Code</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(LoC)</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Lab Attendance (%)</a:t>
                      </a:r>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1.</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211293</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c>
                  <a:txBody>
                    <a:bodyPr/>
                    <a:lstStyle/>
                    <a:p>
                      <a:pPr indent="-311150" lvl="0" marL="457200" rtl="0" algn="just">
                        <a:spcBef>
                          <a:spcPts val="0"/>
                        </a:spcBef>
                        <a:spcAft>
                          <a:spcPts val="0"/>
                        </a:spcAft>
                        <a:buSzPts val="1300"/>
                        <a:buFont typeface="Helvetica Neue"/>
                        <a:buChar char="●"/>
                      </a:pPr>
                      <a:r>
                        <a:rPr lang="en-IN" sz="1300">
                          <a:latin typeface="Helvetica Neue"/>
                          <a:ea typeface="Helvetica Neue"/>
                          <a:cs typeface="Helvetica Neue"/>
                          <a:sym typeface="Helvetica Neue"/>
                        </a:rPr>
                        <a:t>Designed and fine-tuned machine learning models for detecting deepfake audio, incorporating techniques for robustness and accuracy.</a:t>
                      </a:r>
                      <a:endParaRPr sz="1300">
                        <a:latin typeface="Helvetica Neue"/>
                        <a:ea typeface="Helvetica Neue"/>
                        <a:cs typeface="Helvetica Neue"/>
                        <a:sym typeface="Helvetica Neue"/>
                      </a:endParaRPr>
                    </a:p>
                    <a:p>
                      <a:pPr indent="-311150" lvl="0" marL="457200" rtl="0" algn="just">
                        <a:spcBef>
                          <a:spcPts val="0"/>
                        </a:spcBef>
                        <a:spcAft>
                          <a:spcPts val="0"/>
                        </a:spcAft>
                        <a:buSzPts val="1300"/>
                        <a:buFont typeface="Helvetica Neue"/>
                        <a:buChar char="●"/>
                      </a:pPr>
                      <a:r>
                        <a:rPr lang="en-IN" sz="1300">
                          <a:latin typeface="Helvetica Neue"/>
                          <a:ea typeface="Helvetica Neue"/>
                          <a:cs typeface="Helvetica Neue"/>
                          <a:sym typeface="Helvetica Neue"/>
                        </a:rPr>
                        <a:t>Implemented models such as SVM and CNNs, comparing their performance for effective detection.</a:t>
                      </a:r>
                      <a:endParaRPr sz="1200">
                        <a:latin typeface="Helvetica Neue"/>
                        <a:ea typeface="Helvetica Neue"/>
                        <a:cs typeface="Helvetica Neue"/>
                        <a:sym typeface="Helvetica Neue"/>
                      </a:endParaRPr>
                    </a:p>
                    <a:p>
                      <a:pPr indent="0" lvl="0" marL="0" marR="0" rtl="0" algn="just">
                        <a:spcBef>
                          <a:spcPts val="0"/>
                        </a:spcBef>
                        <a:spcAft>
                          <a:spcPts val="0"/>
                        </a:spcAft>
                        <a:buClr>
                          <a:schemeClr val="dk1"/>
                        </a:buClr>
                        <a:buSzPts val="1300"/>
                        <a:buFont typeface="Arial"/>
                        <a:buNone/>
                      </a:pPr>
                      <a:r>
                        <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50%</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300</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N/A</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2.</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211326</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c>
                  <a:txBody>
                    <a:bodyPr/>
                    <a:lstStyle/>
                    <a:p>
                      <a:pPr indent="-88900" lvl="0" marL="171450" marR="0" rtl="0" algn="l">
                        <a:spcBef>
                          <a:spcPts val="0"/>
                        </a:spcBef>
                        <a:spcAft>
                          <a:spcPts val="0"/>
                        </a:spcAft>
                        <a:buClr>
                          <a:schemeClr val="dk1"/>
                        </a:buClr>
                        <a:buSzPts val="1300"/>
                        <a:buFont typeface="Arial"/>
                        <a:buNone/>
                      </a:pPr>
                      <a:r>
                        <a:t/>
                      </a:r>
                      <a:endParaRPr b="0" i="0" sz="1300" u="none" cap="none" strike="noStrike">
                        <a:latin typeface="Helvetica Neue"/>
                        <a:ea typeface="Helvetica Neue"/>
                        <a:cs typeface="Helvetica Neue"/>
                        <a:sym typeface="Helvetica Neue"/>
                      </a:endParaRPr>
                    </a:p>
                    <a:p>
                      <a:pPr indent="-311150" lvl="0" marL="457200" rtl="0" algn="just">
                        <a:spcBef>
                          <a:spcPts val="0"/>
                        </a:spcBef>
                        <a:spcAft>
                          <a:spcPts val="0"/>
                        </a:spcAft>
                        <a:buSzPts val="1300"/>
                        <a:buFont typeface="Helvetica Neue"/>
                        <a:buChar char="●"/>
                      </a:pPr>
                      <a:r>
                        <a:rPr lang="en-IN" sz="1300">
                          <a:latin typeface="Helvetica Neue"/>
                          <a:ea typeface="Helvetica Neue"/>
                          <a:cs typeface="Helvetica Neue"/>
                          <a:sym typeface="Helvetica Neue"/>
                        </a:rPr>
                        <a:t>Conducted extensive experimentation using the ASVSpoof 2019 dataset for training and evaluation.</a:t>
                      </a:r>
                      <a:endParaRPr sz="1300">
                        <a:latin typeface="Helvetica Neue"/>
                        <a:ea typeface="Helvetica Neue"/>
                        <a:cs typeface="Helvetica Neue"/>
                        <a:sym typeface="Helvetica Neue"/>
                      </a:endParaRPr>
                    </a:p>
                    <a:p>
                      <a:pPr indent="0" lvl="0" marL="0" rtl="0" algn="just">
                        <a:spcBef>
                          <a:spcPts val="0"/>
                        </a:spcBef>
                        <a:spcAft>
                          <a:spcPts val="0"/>
                        </a:spcAft>
                        <a:buNone/>
                      </a:pPr>
                      <a:r>
                        <a:t/>
                      </a:r>
                      <a:endParaRPr sz="1300">
                        <a:latin typeface="Helvetica Neue"/>
                        <a:ea typeface="Helvetica Neue"/>
                        <a:cs typeface="Helvetica Neue"/>
                        <a:sym typeface="Helvetica Neue"/>
                      </a:endParaRPr>
                    </a:p>
                    <a:p>
                      <a:pPr indent="-311150" lvl="0" marL="457200" rtl="0" algn="just">
                        <a:spcBef>
                          <a:spcPts val="0"/>
                        </a:spcBef>
                        <a:spcAft>
                          <a:spcPts val="0"/>
                        </a:spcAft>
                        <a:buSzPts val="1300"/>
                        <a:buFont typeface="Helvetica Neue"/>
                        <a:buChar char="●"/>
                      </a:pPr>
                      <a:r>
                        <a:rPr lang="en-IN" sz="1300">
                          <a:latin typeface="Helvetica Neue"/>
                          <a:ea typeface="Helvetica Neue"/>
                          <a:cs typeface="Helvetica Neue"/>
                          <a:sym typeface="Helvetica Neue"/>
                        </a:rPr>
                        <a:t>Focused on optimizing model architecture for computational efficiency and real-time application.</a:t>
                      </a:r>
                      <a:endParaRPr sz="1300">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sz="1300">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b="0" i="0" sz="1300" u="none" cap="none" strike="noStrike">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b="0" i="0" sz="1300" u="none" cap="none" strike="noStrike">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b="0" i="0" sz="1300" u="none" cap="none" strike="noStrike">
                        <a:latin typeface="Helvetica Neue"/>
                        <a:ea typeface="Helvetica Neue"/>
                        <a:cs typeface="Helvetica Neue"/>
                        <a:sym typeface="Helvetica Neue"/>
                      </a:endParaRPr>
                    </a:p>
                    <a:p>
                      <a:pPr indent="-88900" lvl="0" marL="171450" marR="0" rtl="0" algn="l">
                        <a:lnSpc>
                          <a:spcPct val="100000"/>
                        </a:lnSpc>
                        <a:spcBef>
                          <a:spcPts val="0"/>
                        </a:spcBef>
                        <a:spcAft>
                          <a:spcPts val="0"/>
                        </a:spcAft>
                        <a:buClr>
                          <a:schemeClr val="dk1"/>
                        </a:buClr>
                        <a:buSzPts val="1300"/>
                        <a:buFont typeface="Arial"/>
                        <a:buNone/>
                      </a:pPr>
                      <a:r>
                        <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50%</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300</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100%</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Supervisor </a:t>
            </a:r>
            <a:r>
              <a:rPr lang="en-IN"/>
              <a:t>Interactions </a:t>
            </a:r>
            <a:r>
              <a:rPr b="0" lang="en-IN"/>
              <a:t>(as mentioned in weekly log)</a:t>
            </a:r>
            <a:endParaRPr b="0"/>
          </a:p>
        </p:txBody>
      </p:sp>
      <p:sp>
        <p:nvSpPr>
          <p:cNvPr id="151" name="Google Shape;151;p19"/>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52" name="Google Shape;152;p19"/>
          <p:cNvGraphicFramePr/>
          <p:nvPr/>
        </p:nvGraphicFramePr>
        <p:xfrm>
          <a:off x="110168" y="881350"/>
          <a:ext cx="3000000" cy="3000000"/>
        </p:xfrm>
        <a:graphic>
          <a:graphicData uri="http://schemas.openxmlformats.org/drawingml/2006/table">
            <a:tbl>
              <a:tblPr bandRow="1" firstRow="1">
                <a:noFill/>
                <a:tableStyleId>{897190CF-AEDB-45CF-8660-BB9973AB6C2E}</a:tableStyleId>
              </a:tblPr>
              <a:tblGrid>
                <a:gridCol w="651825"/>
                <a:gridCol w="1364250"/>
                <a:gridCol w="5596575"/>
                <a:gridCol w="1358975"/>
              </a:tblGrid>
              <a:tr h="384025">
                <a:tc gridSpan="4">
                  <a:txBody>
                    <a:bodyPr/>
                    <a:lstStyle/>
                    <a:p>
                      <a:pPr indent="0" lvl="0" marL="0" marR="0" rtl="0" algn="ctr">
                        <a:spcBef>
                          <a:spcPts val="0"/>
                        </a:spcBef>
                        <a:spcAft>
                          <a:spcPts val="0"/>
                        </a:spcAft>
                        <a:buNone/>
                      </a:pPr>
                      <a:r>
                        <a:rPr b="1" i="0" lang="en-IN" sz="1300" u="none" cap="none" strike="noStrike">
                          <a:solidFill>
                            <a:schemeClr val="dk1"/>
                          </a:solidFill>
                          <a:latin typeface="Helvetica Neue"/>
                          <a:ea typeface="Helvetica Neue"/>
                          <a:cs typeface="Helvetica Neue"/>
                          <a:sym typeface="Helvetica Neue"/>
                        </a:rPr>
                        <a:t>No. of Meetings with Supervisor: 7</a:t>
                      </a:r>
                      <a:endParaRPr/>
                    </a:p>
                  </a:txBody>
                  <a:tcPr marT="45725" marB="45725" marR="91450" marL="91450" anchor="ctr">
                    <a:solidFill>
                      <a:srgbClr val="D5D59B"/>
                    </a:solidFill>
                  </a:tcPr>
                </a:tc>
                <a:tc hMerge="1"/>
                <a:tc hMerge="1"/>
                <a:tc hMerge="1"/>
              </a:tr>
              <a:tr h="475675">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Week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Duration</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Remarks (</a:t>
                      </a:r>
                      <a:r>
                        <a:rPr b="1" i="0" lang="en-IN" sz="1300" u="none" cap="none" strike="noStrike">
                          <a:solidFill>
                            <a:schemeClr val="dk1"/>
                          </a:solidFill>
                          <a:latin typeface="Helvetica Neue"/>
                          <a:ea typeface="Helvetica Neue"/>
                          <a:cs typeface="Helvetica Neue"/>
                          <a:sym typeface="Helvetica Neue"/>
                        </a:rPr>
                        <a:t>as mentioned in the weekly log</a:t>
                      </a:r>
                      <a:r>
                        <a:rPr b="0" i="0" lang="en-IN" sz="1300" u="none" cap="none" strike="noStrike">
                          <a:solidFill>
                            <a:schemeClr val="dk1"/>
                          </a:solidFill>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Incorporated</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(Yes/No)</a:t>
                      </a:r>
                      <a:endParaRPr/>
                    </a:p>
                  </a:txBody>
                  <a:tcPr marT="45725" marB="45725" marR="91450" marL="91450">
                    <a:solidFill>
                      <a:srgbClr val="D5D59B"/>
                    </a:solidFill>
                  </a:tcPr>
                </a:tc>
              </a:tr>
              <a:tr h="11446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1.</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06</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11</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4F9ED"/>
                    </a:solidFill>
                  </a:tcPr>
                </a:tc>
                <a:tc>
                  <a:txBody>
                    <a:bodyPr/>
                    <a:lstStyle/>
                    <a:p>
                      <a:pPr indent="-311150" lvl="0" marL="457200" rtl="0" algn="just">
                        <a:lnSpc>
                          <a:spcPct val="100000"/>
                        </a:lnSpc>
                        <a:spcBef>
                          <a:spcPts val="0"/>
                        </a:spcBef>
                        <a:spcAft>
                          <a:spcPts val="0"/>
                        </a:spcAft>
                        <a:buSzPts val="1300"/>
                        <a:buFont typeface="Arial"/>
                        <a:buChar char="●"/>
                      </a:pPr>
                      <a:r>
                        <a:rPr lang="en-IN" sz="1300">
                          <a:latin typeface="Arial"/>
                          <a:ea typeface="Arial"/>
                          <a:cs typeface="Arial"/>
                          <a:sym typeface="Arial"/>
                        </a:rPr>
                        <a:t>Good progress in understanding AI-focused deepfake audio detection and selecting a suitable framework.</a:t>
                      </a:r>
                      <a:endParaRPr sz="1300">
                        <a:latin typeface="Arial"/>
                        <a:ea typeface="Arial"/>
                        <a:cs typeface="Arial"/>
                        <a:sym typeface="Arial"/>
                      </a:endParaRPr>
                    </a:p>
                    <a:p>
                      <a:pPr indent="-311150" lvl="0" marL="457200" rtl="0" algn="just">
                        <a:lnSpc>
                          <a:spcPct val="100000"/>
                        </a:lnSpc>
                        <a:spcBef>
                          <a:spcPts val="0"/>
                        </a:spcBef>
                        <a:spcAft>
                          <a:spcPts val="0"/>
                        </a:spcAft>
                        <a:buSzPts val="1300"/>
                        <a:buFont typeface="Arial"/>
                        <a:buChar char="●"/>
                      </a:pPr>
                      <a:r>
                        <a:rPr lang="en-IN" sz="1300">
                          <a:latin typeface="Arial"/>
                          <a:ea typeface="Arial"/>
                          <a:cs typeface="Arial"/>
                          <a:sym typeface="Arial"/>
                        </a:rPr>
                        <a:t>Effective file upload component development, ensuring flexibility and easy dataset validation.</a:t>
                      </a:r>
                      <a:endParaRPr sz="1300">
                        <a:latin typeface="Arial"/>
                        <a:ea typeface="Arial"/>
                        <a:cs typeface="Arial"/>
                        <a:sym typeface="Arial"/>
                      </a:endParaRPr>
                    </a:p>
                    <a:p>
                      <a:pPr indent="-311150" lvl="0" marL="457200" rtl="0" algn="just">
                        <a:lnSpc>
                          <a:spcPct val="100000"/>
                        </a:lnSpc>
                        <a:spcBef>
                          <a:spcPts val="0"/>
                        </a:spcBef>
                        <a:spcAft>
                          <a:spcPts val="0"/>
                        </a:spcAft>
                        <a:buSzPts val="1300"/>
                        <a:buFont typeface="Arial"/>
                        <a:buChar char="●"/>
                      </a:pPr>
                      <a:r>
                        <a:rPr lang="en-IN" sz="1300">
                          <a:latin typeface="Arial"/>
                          <a:ea typeface="Arial"/>
                          <a:cs typeface="Arial"/>
                          <a:sym typeface="Arial"/>
                        </a:rPr>
                        <a:t>Consider testing different datasets to analyze model adaptability.</a:t>
                      </a:r>
                      <a:endParaRPr sz="13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r>
              <a:tr h="11446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2.</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13</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21</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0F0DD"/>
                    </a:solidFill>
                  </a:tcPr>
                </a:tc>
                <a:tc>
                  <a:txBody>
                    <a:bodyPr/>
                    <a:lstStyle/>
                    <a:p>
                      <a:pPr indent="-311150" lvl="0" marL="457200" rtl="0" algn="just">
                        <a:spcBef>
                          <a:spcPts val="0"/>
                        </a:spcBef>
                        <a:spcAft>
                          <a:spcPts val="0"/>
                        </a:spcAft>
                        <a:buSzPts val="1300"/>
                        <a:buFont typeface="Arial"/>
                        <a:buChar char="●"/>
                      </a:pPr>
                      <a:r>
                        <a:rPr lang="en-IN" sz="1300">
                          <a:latin typeface="Arial"/>
                          <a:ea typeface="Arial"/>
                          <a:cs typeface="Arial"/>
                          <a:sym typeface="Arial"/>
                        </a:rPr>
                        <a:t>Successfully connected the frontend with the backend, facilitating API-based model inference.</a:t>
                      </a:r>
                      <a:endParaRPr sz="1300">
                        <a:latin typeface="Arial"/>
                        <a:ea typeface="Arial"/>
                        <a:cs typeface="Arial"/>
                        <a:sym typeface="Arial"/>
                      </a:endParaRPr>
                    </a:p>
                    <a:p>
                      <a:pPr indent="-311150" lvl="0" marL="457200" rtl="0" algn="just">
                        <a:spcBef>
                          <a:spcPts val="0"/>
                        </a:spcBef>
                        <a:spcAft>
                          <a:spcPts val="0"/>
                        </a:spcAft>
                        <a:buSzPts val="1300"/>
                        <a:buFont typeface="Arial"/>
                        <a:buChar char="●"/>
                      </a:pPr>
                      <a:r>
                        <a:rPr lang="en-IN" sz="1300">
                          <a:latin typeface="Arial"/>
                          <a:ea typeface="Arial"/>
                          <a:cs typeface="Arial"/>
                          <a:sym typeface="Arial"/>
                        </a:rPr>
                        <a:t>Implemented result visualization, which improves interpretability of deepfake detection outcomes.</a:t>
                      </a:r>
                      <a:endParaRPr sz="1300">
                        <a:latin typeface="Arial"/>
                        <a:ea typeface="Arial"/>
                        <a:cs typeface="Arial"/>
                        <a:sym typeface="Arial"/>
                      </a:endParaRPr>
                    </a:p>
                    <a:p>
                      <a:pPr indent="-311150" lvl="0" marL="457200" rtl="0" algn="just">
                        <a:spcBef>
                          <a:spcPts val="0"/>
                        </a:spcBef>
                        <a:spcAft>
                          <a:spcPts val="0"/>
                        </a:spcAft>
                        <a:buSzPts val="1300"/>
                        <a:buFont typeface="Arial"/>
                        <a:buChar char="●"/>
                      </a:pPr>
                      <a:r>
                        <a:rPr lang="en-IN" sz="1300">
                          <a:latin typeface="Arial"/>
                          <a:ea typeface="Arial"/>
                          <a:cs typeface="Arial"/>
                          <a:sym typeface="Arial"/>
                        </a:rPr>
                        <a:t>Continue refining the UI/UX for better usability.</a:t>
                      </a:r>
                      <a:endParaRPr sz="15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r>
              <a:tr h="8919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3.</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22</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29</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4F9ED"/>
                    </a:solidFill>
                  </a:tcPr>
                </a:tc>
                <a:tc>
                  <a:txBody>
                    <a:bodyPr/>
                    <a:lstStyle/>
                    <a:p>
                      <a:pPr indent="-311150" lvl="0" marL="457200" rtl="0" algn="just">
                        <a:spcBef>
                          <a:spcPts val="0"/>
                        </a:spcBef>
                        <a:spcAft>
                          <a:spcPts val="0"/>
                        </a:spcAft>
                        <a:buSzPts val="1300"/>
                        <a:buFont typeface="Arial"/>
                        <a:buChar char="●"/>
                      </a:pPr>
                      <a:r>
                        <a:rPr lang="en-IN" sz="1300">
                          <a:latin typeface="Arial"/>
                          <a:ea typeface="Arial"/>
                          <a:cs typeface="Arial"/>
                          <a:sym typeface="Arial"/>
                        </a:rPr>
                        <a:t>Implemented noise filtering and feature extraction (MFCC), improving deepfake detection accuracy.</a:t>
                      </a:r>
                      <a:endParaRPr sz="1300">
                        <a:latin typeface="Arial"/>
                        <a:ea typeface="Arial"/>
                        <a:cs typeface="Arial"/>
                        <a:sym typeface="Arial"/>
                      </a:endParaRPr>
                    </a:p>
                    <a:p>
                      <a:pPr indent="-311150" lvl="0" marL="457200" rtl="0" algn="just">
                        <a:spcBef>
                          <a:spcPts val="0"/>
                        </a:spcBef>
                        <a:spcAft>
                          <a:spcPts val="0"/>
                        </a:spcAft>
                        <a:buSzPts val="1300"/>
                        <a:buFont typeface="Arial"/>
                        <a:buChar char="●"/>
                      </a:pPr>
                      <a:r>
                        <a:rPr lang="en-IN" sz="1300">
                          <a:latin typeface="Arial"/>
                          <a:ea typeface="Arial"/>
                          <a:cs typeface="Arial"/>
                          <a:sym typeface="Arial"/>
                        </a:rPr>
                        <a:t>Backend model integration was successfully done, allowing smooth processing and inference.</a:t>
                      </a:r>
                      <a:endParaRPr sz="1500">
                        <a:latin typeface="Helvetica Neue"/>
                        <a:ea typeface="Helvetica Neue"/>
                        <a:cs typeface="Helvetica Neue"/>
                        <a:sym typeface="Helvetica Neue"/>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r>
              <a:tr h="8862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4.</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30</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01</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06</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0F0DD"/>
                    </a:solidFill>
                  </a:tcPr>
                </a:tc>
                <a:tc>
                  <a:txBody>
                    <a:bodyPr/>
                    <a:lstStyle/>
                    <a:p>
                      <a:pPr indent="-311150" lvl="0" marL="457200" rtl="0" algn="just">
                        <a:spcBef>
                          <a:spcPts val="0"/>
                        </a:spcBef>
                        <a:spcAft>
                          <a:spcPts val="0"/>
                        </a:spcAft>
                        <a:buSzPts val="1300"/>
                        <a:buFont typeface="Arial"/>
                        <a:buChar char="●"/>
                      </a:pPr>
                      <a:r>
                        <a:rPr lang="en-IN" sz="1300">
                          <a:latin typeface="Arial"/>
                          <a:ea typeface="Arial"/>
                          <a:cs typeface="Arial"/>
                          <a:sym typeface="Arial"/>
                        </a:rPr>
                        <a:t>Further optimization of preprocessing pipelines could enhance efficiency.</a:t>
                      </a:r>
                      <a:endParaRPr sz="1300">
                        <a:latin typeface="Arial"/>
                        <a:ea typeface="Arial"/>
                        <a:cs typeface="Arial"/>
                        <a:sym typeface="Arial"/>
                      </a:endParaRPr>
                    </a:p>
                    <a:p>
                      <a:pPr indent="-311150" lvl="0" marL="457200" rtl="0" algn="just">
                        <a:spcBef>
                          <a:spcPts val="0"/>
                        </a:spcBef>
                        <a:spcAft>
                          <a:spcPts val="0"/>
                        </a:spcAft>
                        <a:buSzPts val="1300"/>
                        <a:buFont typeface="Arial"/>
                        <a:buChar char="●"/>
                      </a:pPr>
                      <a:r>
                        <a:rPr lang="en-IN" sz="1300">
                          <a:latin typeface="Arial"/>
                          <a:ea typeface="Arial"/>
                          <a:cs typeface="Arial"/>
                          <a:sym typeface="Arial"/>
                        </a:rPr>
                        <a:t>Dataset integration and preprocessing were well-structured, ensuring effective feature extraction.</a:t>
                      </a:r>
                      <a:endParaRPr sz="1300">
                        <a:latin typeface="Helvetica Neue"/>
                        <a:ea typeface="Helvetica Neue"/>
                        <a:cs typeface="Helvetica Neue"/>
                        <a:sym typeface="Helvetica Neue"/>
                      </a:endParaRPr>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r>
              <a:tr h="668925">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5.</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07</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14</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4F9ED"/>
                    </a:solidFill>
                  </a:tcPr>
                </a:tc>
                <a:tc>
                  <a:txBody>
                    <a:bodyPr/>
                    <a:lstStyle/>
                    <a:p>
                      <a:pPr indent="-311150" lvl="0" marL="457200" marR="0" rtl="0" algn="just">
                        <a:lnSpc>
                          <a:spcPct val="100000"/>
                        </a:lnSpc>
                        <a:spcBef>
                          <a:spcPts val="0"/>
                        </a:spcBef>
                        <a:spcAft>
                          <a:spcPts val="0"/>
                        </a:spcAft>
                        <a:buSzPts val="1300"/>
                        <a:buFont typeface="Arial"/>
                        <a:buChar char="●"/>
                      </a:pPr>
                      <a:r>
                        <a:rPr lang="en-IN" sz="1300">
                          <a:latin typeface="Arial"/>
                          <a:ea typeface="Arial"/>
                          <a:cs typeface="Arial"/>
                          <a:sym typeface="Arial"/>
                        </a:rPr>
                        <a:t>Focus: Error handling in the system.</a:t>
                      </a:r>
                      <a:endParaRPr sz="1300">
                        <a:latin typeface="Arial"/>
                        <a:ea typeface="Arial"/>
                        <a:cs typeface="Arial"/>
                        <a:sym typeface="Arial"/>
                      </a:endParaRPr>
                    </a:p>
                    <a:p>
                      <a:pPr indent="-311150" lvl="0" marL="457200" marR="0" rtl="0" algn="just">
                        <a:lnSpc>
                          <a:spcPct val="100000"/>
                        </a:lnSpc>
                        <a:spcBef>
                          <a:spcPts val="0"/>
                        </a:spcBef>
                        <a:spcAft>
                          <a:spcPts val="0"/>
                        </a:spcAft>
                        <a:buSzPts val="1300"/>
                        <a:buFont typeface="Arial"/>
                        <a:buChar char="●"/>
                      </a:pPr>
                      <a:r>
                        <a:rPr lang="en-IN" sz="1300">
                          <a:latin typeface="Arial"/>
                          <a:ea typeface="Arial"/>
                          <a:cs typeface="Arial"/>
                          <a:sym typeface="Arial"/>
                        </a:rPr>
                        <a:t>Great initiative to ensure smooth functionality by handling a variety of errors.</a:t>
                      </a:r>
                      <a:endParaRPr sz="1300">
                        <a:latin typeface="Arial"/>
                        <a:ea typeface="Arial"/>
                        <a:cs typeface="Arial"/>
                        <a:sym typeface="Arial"/>
                      </a:endParaRPr>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Supervisor </a:t>
            </a:r>
            <a:r>
              <a:rPr lang="en-IN"/>
              <a:t>Interactions</a:t>
            </a:r>
            <a:r>
              <a:rPr lang="en-IN" sz="2400"/>
              <a:t> </a:t>
            </a:r>
            <a:r>
              <a:rPr b="0" lang="en-IN" sz="2400"/>
              <a:t>(cont…)</a:t>
            </a:r>
            <a:endParaRPr b="0"/>
          </a:p>
        </p:txBody>
      </p:sp>
      <p:sp>
        <p:nvSpPr>
          <p:cNvPr id="158" name="Google Shape;158;p20"/>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2250"/>
              <a:buFont typeface="Arial"/>
              <a:buNone/>
            </a:pPr>
            <a:r>
              <a:t/>
            </a:r>
            <a:endParaRPr sz="1800">
              <a:solidFill>
                <a:schemeClr val="dk1"/>
              </a:solidFill>
              <a:latin typeface="Helvetica Neue"/>
              <a:ea typeface="Helvetica Neue"/>
              <a:cs typeface="Helvetica Neue"/>
              <a:sym typeface="Helvetica Neue"/>
            </a:endParaRPr>
          </a:p>
        </p:txBody>
      </p:sp>
      <p:graphicFrame>
        <p:nvGraphicFramePr>
          <p:cNvPr id="159" name="Google Shape;159;p20"/>
          <p:cNvGraphicFramePr/>
          <p:nvPr/>
        </p:nvGraphicFramePr>
        <p:xfrm>
          <a:off x="110168" y="881350"/>
          <a:ext cx="3000000" cy="3000000"/>
        </p:xfrm>
        <a:graphic>
          <a:graphicData uri="http://schemas.openxmlformats.org/drawingml/2006/table">
            <a:tbl>
              <a:tblPr bandRow="1" firstRow="1">
                <a:noFill/>
                <a:tableStyleId>{897190CF-AEDB-45CF-8660-BB9973AB6C2E}</a:tableStyleId>
              </a:tblPr>
              <a:tblGrid>
                <a:gridCol w="651825"/>
                <a:gridCol w="1364250"/>
                <a:gridCol w="5596575"/>
                <a:gridCol w="1222875"/>
              </a:tblGrid>
              <a:tr h="507400">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Week No.</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Duration</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Remarks (</a:t>
                      </a:r>
                      <a:r>
                        <a:rPr b="1" i="0" lang="en-IN" sz="1300" u="none" cap="none" strike="noStrike">
                          <a:solidFill>
                            <a:schemeClr val="dk1"/>
                          </a:solidFill>
                          <a:latin typeface="Helvetica Neue"/>
                          <a:ea typeface="Helvetica Neue"/>
                          <a:cs typeface="Helvetica Neue"/>
                          <a:sym typeface="Helvetica Neue"/>
                        </a:rPr>
                        <a:t>as mentioned in the weekly log</a:t>
                      </a:r>
                      <a:r>
                        <a:rPr b="0" i="0" lang="en-IN" sz="1300" u="none" cap="none" strike="noStrike">
                          <a:solidFill>
                            <a:schemeClr val="dk1"/>
                          </a:solidFill>
                          <a:latin typeface="Helvetica Neue"/>
                          <a:ea typeface="Helvetica Neue"/>
                          <a:cs typeface="Helvetica Neue"/>
                          <a:sym typeface="Helvetica Neue"/>
                        </a:rPr>
                        <a:t>)</a:t>
                      </a:r>
                      <a:endParaRPr/>
                    </a:p>
                  </a:txBody>
                  <a:tcPr marT="45725" marB="45725" marR="91450" marL="91450">
                    <a:solidFill>
                      <a:srgbClr val="D5D59B"/>
                    </a:solidFill>
                  </a:tcPr>
                </a:tc>
                <a:tc>
                  <a:txBody>
                    <a:bodyPr/>
                    <a:lstStyle/>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Incorporated</a:t>
                      </a:r>
                      <a:endParaRPr/>
                    </a:p>
                    <a:p>
                      <a:pPr indent="0" lvl="0" marL="0" marR="0" rtl="0" algn="ctr">
                        <a:spcBef>
                          <a:spcPts val="0"/>
                        </a:spcBef>
                        <a:spcAft>
                          <a:spcPts val="0"/>
                        </a:spcAft>
                        <a:buNone/>
                      </a:pPr>
                      <a:r>
                        <a:rPr b="0" i="0" lang="en-IN" sz="1300" u="none" cap="none" strike="noStrike">
                          <a:solidFill>
                            <a:schemeClr val="dk1"/>
                          </a:solidFill>
                          <a:latin typeface="Helvetica Neue"/>
                          <a:ea typeface="Helvetica Neue"/>
                          <a:cs typeface="Helvetica Neue"/>
                          <a:sym typeface="Helvetica Neue"/>
                        </a:rPr>
                        <a:t>(Yes/No)</a:t>
                      </a:r>
                      <a:endParaRPr/>
                    </a:p>
                  </a:txBody>
                  <a:tcPr marT="45725" marB="45725" marR="91450" marL="91450">
                    <a:solidFill>
                      <a:srgbClr val="D5D59B"/>
                    </a:solidFill>
                  </a:tcPr>
                </a:tc>
              </a:tr>
              <a:tr h="8280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6.</a:t>
                      </a:r>
                      <a:endParaRPr/>
                    </a:p>
                  </a:txBody>
                  <a:tcPr marT="45725" marB="45725" marR="91450" marL="91450">
                    <a:solidFill>
                      <a:srgbClr val="F4F9E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15</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22</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4F9ED"/>
                    </a:solidFill>
                  </a:tcPr>
                </a:tc>
                <a:tc>
                  <a:txBody>
                    <a:bodyPr/>
                    <a:lstStyle/>
                    <a:p>
                      <a:pPr indent="-317500" lvl="0" marL="457200" marR="0" rtl="0" algn="just">
                        <a:spcBef>
                          <a:spcPts val="0"/>
                        </a:spcBef>
                        <a:spcAft>
                          <a:spcPts val="0"/>
                        </a:spcAft>
                        <a:buSzPts val="1400"/>
                        <a:buFont typeface="Helvetica Neue"/>
                        <a:buChar char="●"/>
                      </a:pPr>
                      <a:r>
                        <a:rPr lang="en-IN">
                          <a:latin typeface="Helvetica Neue"/>
                          <a:ea typeface="Helvetica Neue"/>
                          <a:cs typeface="Helvetica Neue"/>
                          <a:sym typeface="Helvetica Neue"/>
                        </a:rPr>
                        <a:t>Latency and efficiency improvements.</a:t>
                      </a:r>
                      <a:endParaRPr sz="1500"/>
                    </a:p>
                    <a:p>
                      <a:pPr indent="-317500" lvl="0" marL="457200" marR="0" rtl="0" algn="just">
                        <a:spcBef>
                          <a:spcPts val="0"/>
                        </a:spcBef>
                        <a:spcAft>
                          <a:spcPts val="0"/>
                        </a:spcAft>
                        <a:buSzPts val="1400"/>
                        <a:buFont typeface="Helvetica Neue"/>
                        <a:buChar char="●"/>
                      </a:pPr>
                      <a:r>
                        <a:rPr lang="en-IN">
                          <a:latin typeface="Helvetica Neue"/>
                          <a:ea typeface="Helvetica Neue"/>
                          <a:cs typeface="Helvetica Neue"/>
                          <a:sym typeface="Helvetica Neue"/>
                        </a:rPr>
                        <a:t>Identifying and resolving bottlenecks in the model inference process is essential for real-time applications. </a:t>
                      </a:r>
                      <a:endParaRPr sz="1500"/>
                    </a:p>
                    <a:p>
                      <a:pPr indent="-317500" lvl="0" marL="457200" marR="0" rtl="0" algn="just">
                        <a:lnSpc>
                          <a:spcPct val="100000"/>
                        </a:lnSpc>
                        <a:spcBef>
                          <a:spcPts val="0"/>
                        </a:spcBef>
                        <a:spcAft>
                          <a:spcPts val="0"/>
                        </a:spcAft>
                        <a:buSzPts val="1400"/>
                        <a:buFont typeface="Helvetica Neue"/>
                        <a:buChar char="●"/>
                      </a:pPr>
                      <a:r>
                        <a:rPr lang="en-IN">
                          <a:latin typeface="Helvetica Neue"/>
                          <a:ea typeface="Helvetica Neue"/>
                          <a:cs typeface="Helvetica Neue"/>
                          <a:sym typeface="Helvetica Neue"/>
                        </a:rPr>
                        <a:t>Optimizing data loading through caching frequently accessed data is a smart move to reduce processing overhead.</a:t>
                      </a:r>
                      <a:endParaRPr sz="1500"/>
                    </a:p>
                  </a:txBody>
                  <a:tcPr marT="45725" marB="45725" marR="91450" marL="91450">
                    <a:solidFill>
                      <a:srgbClr val="F4F9E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4F9ED"/>
                    </a:solidFill>
                  </a:tcPr>
                </a:tc>
              </a:tr>
              <a:tr h="828000">
                <a:tc>
                  <a:txBody>
                    <a:bodyPr/>
                    <a:lstStyle/>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7.</a:t>
                      </a:r>
                      <a:endParaRPr/>
                    </a:p>
                  </a:txBody>
                  <a:tcPr marT="45725" marB="45725" marR="91450" marL="91450">
                    <a:solidFill>
                      <a:srgbClr val="F0F0DD"/>
                    </a:solidFill>
                  </a:tcPr>
                </a:tc>
                <a:tc>
                  <a:txBody>
                    <a:bodyPr/>
                    <a:lstStyle/>
                    <a:p>
                      <a:pPr indent="0" lvl="0" marL="0" marR="0" rtl="0" algn="ctr">
                        <a:spcBef>
                          <a:spcPts val="0"/>
                        </a:spcBef>
                        <a:spcAft>
                          <a:spcPts val="0"/>
                        </a:spcAft>
                        <a:buNone/>
                      </a:pPr>
                      <a:r>
                        <a:rPr lang="en-IN" sz="1300">
                          <a:latin typeface="Helvetica Neue"/>
                          <a:ea typeface="Helvetica Neue"/>
                          <a:cs typeface="Helvetica Neue"/>
                          <a:sym typeface="Helvetica Neue"/>
                        </a:rPr>
                        <a:t>24</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02</a:t>
                      </a:r>
                      <a:r>
                        <a:rPr b="0" i="0" lang="en-IN" sz="1300" u="none" cap="none" strike="noStrike">
                          <a:latin typeface="Helvetica Neue"/>
                          <a:ea typeface="Helvetica Neue"/>
                          <a:cs typeface="Helvetica Neue"/>
                          <a:sym typeface="Helvetica Neue"/>
                        </a:rPr>
                        <a:t>/2025 </a:t>
                      </a:r>
                      <a:endParaRPr/>
                    </a:p>
                    <a:p>
                      <a:pPr indent="0" lvl="0" marL="0" marR="0" rtl="0" algn="ctr">
                        <a:spcBef>
                          <a:spcPts val="0"/>
                        </a:spcBef>
                        <a:spcAft>
                          <a:spcPts val="0"/>
                        </a:spcAft>
                        <a:buNone/>
                      </a:pPr>
                      <a:r>
                        <a:rPr b="0" i="0" lang="en-IN" sz="1300" u="none" cap="none" strike="noStrike">
                          <a:latin typeface="Helvetica Neue"/>
                          <a:ea typeface="Helvetica Neue"/>
                          <a:cs typeface="Helvetica Neue"/>
                          <a:sym typeface="Helvetica Neue"/>
                        </a:rPr>
                        <a:t>to</a:t>
                      </a:r>
                      <a:endParaRPr/>
                    </a:p>
                    <a:p>
                      <a:pPr indent="0" lvl="0" marL="0" marR="0" rtl="0" algn="ctr">
                        <a:lnSpc>
                          <a:spcPct val="100000"/>
                        </a:lnSpc>
                        <a:spcBef>
                          <a:spcPts val="0"/>
                        </a:spcBef>
                        <a:spcAft>
                          <a:spcPts val="0"/>
                        </a:spcAft>
                        <a:buClr>
                          <a:schemeClr val="dk1"/>
                        </a:buClr>
                        <a:buSzPts val="1300"/>
                        <a:buFont typeface="Helvetica Neue"/>
                        <a:buNone/>
                      </a:pPr>
                      <a:r>
                        <a:rPr lang="en-IN" sz="1300">
                          <a:latin typeface="Helvetica Neue"/>
                          <a:ea typeface="Helvetica Neue"/>
                          <a:cs typeface="Helvetica Neue"/>
                          <a:sym typeface="Helvetica Neue"/>
                        </a:rPr>
                        <a:t>03</a:t>
                      </a:r>
                      <a:r>
                        <a:rPr b="0" i="0" lang="en-IN" sz="1300" u="none" cap="none" strike="noStrike">
                          <a:latin typeface="Helvetica Neue"/>
                          <a:ea typeface="Helvetica Neue"/>
                          <a:cs typeface="Helvetica Neue"/>
                          <a:sym typeface="Helvetica Neue"/>
                        </a:rPr>
                        <a:t>/</a:t>
                      </a:r>
                      <a:r>
                        <a:rPr lang="en-IN" sz="1300">
                          <a:latin typeface="Helvetica Neue"/>
                          <a:ea typeface="Helvetica Neue"/>
                          <a:cs typeface="Helvetica Neue"/>
                          <a:sym typeface="Helvetica Neue"/>
                        </a:rPr>
                        <a:t>03</a:t>
                      </a:r>
                      <a:r>
                        <a:rPr b="0" i="0" lang="en-IN" sz="1300" u="none" cap="none" strike="noStrike">
                          <a:latin typeface="Helvetica Neue"/>
                          <a:ea typeface="Helvetica Neue"/>
                          <a:cs typeface="Helvetica Neue"/>
                          <a:sym typeface="Helvetica Neue"/>
                        </a:rPr>
                        <a:t>/2025</a:t>
                      </a:r>
                      <a:endParaRPr/>
                    </a:p>
                  </a:txBody>
                  <a:tcPr marT="45725" marB="45725" marR="91450" marL="91450">
                    <a:solidFill>
                      <a:srgbClr val="F0F0DD"/>
                    </a:solidFill>
                  </a:tcPr>
                </a:tc>
                <a:tc>
                  <a:txBody>
                    <a:bodyPr/>
                    <a:lstStyle/>
                    <a:p>
                      <a:pPr indent="-317500" lvl="0" marL="457200" marR="0" rtl="0" algn="just">
                        <a:spcBef>
                          <a:spcPts val="0"/>
                        </a:spcBef>
                        <a:spcAft>
                          <a:spcPts val="0"/>
                        </a:spcAft>
                        <a:buSzPts val="1400"/>
                        <a:buFont typeface="Helvetica Neue"/>
                        <a:buChar char="●"/>
                      </a:pPr>
                      <a:r>
                        <a:rPr lang="en-IN">
                          <a:latin typeface="Helvetica Neue"/>
                          <a:ea typeface="Helvetica Neue"/>
                          <a:cs typeface="Helvetica Neue"/>
                          <a:sym typeface="Helvetica Neue"/>
                        </a:rPr>
                        <a:t>Feature extraction optimization and quantization.</a:t>
                      </a:r>
                      <a:endParaRPr sz="1500"/>
                    </a:p>
                    <a:p>
                      <a:pPr indent="-317500" lvl="0" marL="457200" marR="0" rtl="0" algn="just">
                        <a:spcBef>
                          <a:spcPts val="0"/>
                        </a:spcBef>
                        <a:spcAft>
                          <a:spcPts val="0"/>
                        </a:spcAft>
                        <a:buSzPts val="1400"/>
                        <a:buFont typeface="Helvetica Neue"/>
                        <a:buChar char="●"/>
                      </a:pPr>
                      <a:r>
                        <a:rPr lang="en-IN">
                          <a:latin typeface="Helvetica Neue"/>
                          <a:ea typeface="Helvetica Neue"/>
                          <a:cs typeface="Helvetica Neue"/>
                          <a:sym typeface="Helvetica Neue"/>
                        </a:rPr>
                        <a:t>Efficient feature extraction using multi-threading is a solid approach to improving performance.</a:t>
                      </a:r>
                      <a:endParaRPr sz="1500"/>
                    </a:p>
                    <a:p>
                      <a:pPr indent="-317500" lvl="0" marL="457200" marR="0" rtl="0" algn="just">
                        <a:lnSpc>
                          <a:spcPct val="100000"/>
                        </a:lnSpc>
                        <a:spcBef>
                          <a:spcPts val="0"/>
                        </a:spcBef>
                        <a:spcAft>
                          <a:spcPts val="0"/>
                        </a:spcAft>
                        <a:buSzPts val="1400"/>
                        <a:buFont typeface="Helvetica Neue"/>
                        <a:buChar char="●"/>
                      </a:pPr>
                      <a:r>
                        <a:rPr lang="en-IN">
                          <a:latin typeface="Helvetica Neue"/>
                          <a:ea typeface="Helvetica Neue"/>
                          <a:cs typeface="Helvetica Neue"/>
                          <a:sym typeface="Helvetica Neue"/>
                        </a:rPr>
                        <a:t>Quantization is a significant step toward reducing model size and making it deployable on low-power devices.</a:t>
                      </a:r>
                      <a:endParaRPr sz="1500"/>
                    </a:p>
                  </a:txBody>
                  <a:tcPr marT="45725" marB="45725" marR="91450" marL="91450">
                    <a:solidFill>
                      <a:srgbClr val="F0F0DD"/>
                    </a:solidFill>
                  </a:tcPr>
                </a:tc>
                <a:tc>
                  <a:txBody>
                    <a:bodyPr/>
                    <a:lstStyle/>
                    <a:p>
                      <a:pPr indent="0" lvl="0" marL="0" marR="0" rtl="0" algn="ctr">
                        <a:spcBef>
                          <a:spcPts val="0"/>
                        </a:spcBef>
                        <a:spcAft>
                          <a:spcPts val="0"/>
                        </a:spcAft>
                        <a:buClr>
                          <a:schemeClr val="dk1"/>
                        </a:buClr>
                        <a:buSzPts val="1300"/>
                        <a:buFont typeface="Arial"/>
                        <a:buNone/>
                      </a:pPr>
                      <a:r>
                        <a:rPr lang="en-IN" sz="1300">
                          <a:latin typeface="Helvetica Neue"/>
                          <a:ea typeface="Helvetica Neue"/>
                          <a:cs typeface="Helvetica Neue"/>
                          <a:sym typeface="Helvetica Neue"/>
                        </a:rPr>
                        <a:t>Yes</a:t>
                      </a:r>
                      <a:endParaRPr b="0" i="0" sz="1300" u="none" cap="none" strike="noStrike">
                        <a:latin typeface="Helvetica Neue"/>
                        <a:ea typeface="Helvetica Neue"/>
                        <a:cs typeface="Helvetica Neue"/>
                        <a:sym typeface="Helvetica Neue"/>
                      </a:endParaRPr>
                    </a:p>
                  </a:txBody>
                  <a:tcPr marT="45725" marB="45725" marR="91450" marL="91450">
                    <a:solidFill>
                      <a:srgbClr val="F0F0DD"/>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References</a:t>
            </a:r>
            <a:endParaRPr/>
          </a:p>
        </p:txBody>
      </p:sp>
      <p:sp>
        <p:nvSpPr>
          <p:cNvPr id="165" name="Google Shape;165;p21"/>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rPr lang="en-IN" sz="950">
                <a:solidFill>
                  <a:schemeClr val="dk1"/>
                </a:solidFill>
                <a:latin typeface="Helvetica Neue"/>
                <a:ea typeface="Helvetica Neue"/>
                <a:cs typeface="Helvetica Neue"/>
                <a:sym typeface="Helvetica Neue"/>
              </a:rPr>
              <a:t>[</a:t>
            </a:r>
            <a:r>
              <a:rPr lang="en-IN" sz="1050">
                <a:solidFill>
                  <a:schemeClr val="dk1"/>
                </a:solidFill>
                <a:latin typeface="Helvetica Neue"/>
                <a:ea typeface="Helvetica Neue"/>
                <a:cs typeface="Helvetica Neue"/>
                <a:sym typeface="Helvetica Neue"/>
              </a:rPr>
              <a:t>1]    S. M, A. Rajput, and S. M, “Classification of Deep Fake Audio Using MFCC Technique,” in </a:t>
            </a:r>
            <a:r>
              <a:rPr i="1" lang="en-IN" sz="1050">
                <a:solidFill>
                  <a:schemeClr val="dk1"/>
                </a:solidFill>
                <a:latin typeface="Helvetica Neue"/>
                <a:ea typeface="Helvetica Neue"/>
                <a:cs typeface="Helvetica Neue"/>
                <a:sym typeface="Helvetica Neue"/>
              </a:rPr>
              <a:t>2024 IEEE International Conference on Information Technology, Electronics and Intelligent Communication Systems (ICITEICS)</a:t>
            </a:r>
            <a:r>
              <a:rPr lang="en-IN" sz="1050">
                <a:solidFill>
                  <a:schemeClr val="dk1"/>
                </a:solidFill>
                <a:latin typeface="Helvetica Neue"/>
                <a:ea typeface="Helvetica Neue"/>
                <a:cs typeface="Helvetica Neue"/>
                <a:sym typeface="Helvetica Neue"/>
              </a:rPr>
              <a:t>, Jun. 2024, pp. 1–6. doi: 10.1109/ICITEICS61368.2024.10625305.</a:t>
            </a:r>
            <a:endParaRPr sz="10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050">
                <a:solidFill>
                  <a:schemeClr val="dk1"/>
                </a:solidFill>
                <a:latin typeface="Helvetica Neue"/>
                <a:ea typeface="Helvetica Neue"/>
                <a:cs typeface="Helvetica Neue"/>
                <a:sym typeface="Helvetica Neue"/>
              </a:rPr>
              <a:t>[2]    B. Sarada, TVS. L. Sudha, M. Domakonda, and B. Vasantha, “Audio Deepfake Detection and Classification,” in </a:t>
            </a:r>
            <a:r>
              <a:rPr i="1" lang="en-IN" sz="1050">
                <a:solidFill>
                  <a:schemeClr val="dk1"/>
                </a:solidFill>
                <a:latin typeface="Helvetica Neue"/>
                <a:ea typeface="Helvetica Neue"/>
                <a:cs typeface="Helvetica Neue"/>
                <a:sym typeface="Helvetica Neue"/>
              </a:rPr>
              <a:t>2024 Asia Pacific Conference on Innovation in Technology (APCIT)</a:t>
            </a:r>
            <a:r>
              <a:rPr lang="en-IN" sz="1050">
                <a:solidFill>
                  <a:schemeClr val="dk1"/>
                </a:solidFill>
                <a:latin typeface="Helvetica Neue"/>
                <a:ea typeface="Helvetica Neue"/>
                <a:cs typeface="Helvetica Neue"/>
                <a:sym typeface="Helvetica Neue"/>
              </a:rPr>
              <a:t>, Jul. 2024, pp. 1–5. doi: 10.1109/APCIT62007.2024.10673438.</a:t>
            </a:r>
            <a:endParaRPr sz="10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050">
                <a:solidFill>
                  <a:schemeClr val="dk1"/>
                </a:solidFill>
                <a:latin typeface="Helvetica Neue"/>
                <a:ea typeface="Helvetica Neue"/>
                <a:cs typeface="Helvetica Neue"/>
                <a:sym typeface="Helvetica Neue"/>
              </a:rPr>
              <a:t>[3]    G. Ali, J. Rashid, M. R. ul Hussnain, M. U. Tariq, A. Ghani, and D. Kwak, “Beyond the Illusion: Ensemble Learning for Effective Voice Deepfake Detection,” </a:t>
            </a:r>
            <a:r>
              <a:rPr i="1" lang="en-IN" sz="1050">
                <a:solidFill>
                  <a:schemeClr val="dk1"/>
                </a:solidFill>
                <a:latin typeface="Helvetica Neue"/>
                <a:ea typeface="Helvetica Neue"/>
                <a:cs typeface="Helvetica Neue"/>
                <a:sym typeface="Helvetica Neue"/>
              </a:rPr>
              <a:t>IEEE Access</a:t>
            </a:r>
            <a:r>
              <a:rPr lang="en-IN" sz="1050">
                <a:solidFill>
                  <a:schemeClr val="dk1"/>
                </a:solidFill>
                <a:latin typeface="Helvetica Neue"/>
                <a:ea typeface="Helvetica Neue"/>
                <a:cs typeface="Helvetica Neue"/>
                <a:sym typeface="Helvetica Neue"/>
              </a:rPr>
              <a:t>, pp. 1–1, 2024, doi: 10.1109/ACCESS.2024.3457866.</a:t>
            </a:r>
            <a:endParaRPr sz="10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050">
                <a:solidFill>
                  <a:schemeClr val="dk1"/>
                </a:solidFill>
                <a:latin typeface="Helvetica Neue"/>
                <a:ea typeface="Helvetica Neue"/>
                <a:cs typeface="Helvetica Neue"/>
                <a:sym typeface="Helvetica Neue"/>
              </a:rPr>
              <a:t>[4]    H. Maltby, J. Wall, C. Glackin, M. Moniri, N. Cannings, and I. Salami, “A Frequency Bin Analysis of Distinctive Ranges Between Human and Deepfake Generated Voices,” in </a:t>
            </a:r>
            <a:r>
              <a:rPr i="1" lang="en-IN" sz="1050">
                <a:solidFill>
                  <a:schemeClr val="dk1"/>
                </a:solidFill>
                <a:latin typeface="Helvetica Neue"/>
                <a:ea typeface="Helvetica Neue"/>
                <a:cs typeface="Helvetica Neue"/>
                <a:sym typeface="Helvetica Neue"/>
              </a:rPr>
              <a:t>2024 International Joint Conference on Neural Networks (IJCNN)</a:t>
            </a:r>
            <a:r>
              <a:rPr lang="en-IN" sz="1050">
                <a:solidFill>
                  <a:schemeClr val="dk1"/>
                </a:solidFill>
                <a:latin typeface="Helvetica Neue"/>
                <a:ea typeface="Helvetica Neue"/>
                <a:cs typeface="Helvetica Neue"/>
                <a:sym typeface="Helvetica Neue"/>
              </a:rPr>
              <a:t>, Jun. 2024, pp. 1–7. doi: 10.1109/IJCNN60899.2024.10650554.</a:t>
            </a:r>
            <a:endParaRPr sz="1050">
              <a:solidFill>
                <a:schemeClr val="dk1"/>
              </a:solidFill>
            </a:endParaRPr>
          </a:p>
          <a:p>
            <a:pPr indent="0" lvl="0" marL="0" rtl="0" algn="just">
              <a:lnSpc>
                <a:spcPct val="115000"/>
              </a:lnSpc>
              <a:spcBef>
                <a:spcPts val="1200"/>
              </a:spcBef>
              <a:spcAft>
                <a:spcPts val="0"/>
              </a:spcAft>
              <a:buNone/>
            </a:pPr>
            <a:r>
              <a:rPr lang="en-IN" sz="1050">
                <a:solidFill>
                  <a:schemeClr val="dk1"/>
                </a:solidFill>
                <a:latin typeface="Times New Roman"/>
                <a:ea typeface="Times New Roman"/>
                <a:cs typeface="Times New Roman"/>
                <a:sym typeface="Times New Roman"/>
              </a:rPr>
              <a:t>[5]    R. K. Bhukya, A. Raj, and D. N. Raja, “Audio Deepfakes: Feature Extraction and Model Evaluation for Detection,” in </a:t>
            </a:r>
            <a:r>
              <a:rPr i="1" lang="en-IN" sz="1050">
                <a:solidFill>
                  <a:schemeClr val="dk1"/>
                </a:solidFill>
                <a:latin typeface="Times New Roman"/>
                <a:ea typeface="Times New Roman"/>
                <a:cs typeface="Times New Roman"/>
                <a:sym typeface="Times New Roman"/>
              </a:rPr>
              <a:t>2024 5th International Conference for Emerging Technology (INCET)</a:t>
            </a:r>
            <a:r>
              <a:rPr lang="en-IN" sz="1050">
                <a:solidFill>
                  <a:schemeClr val="dk1"/>
                </a:solidFill>
                <a:latin typeface="Times New Roman"/>
                <a:ea typeface="Times New Roman"/>
                <a:cs typeface="Times New Roman"/>
                <a:sym typeface="Times New Roman"/>
              </a:rPr>
              <a:t>, May 2024, pp. 1–6. doi: 10.1109/INCET61516.2024.10593405.</a:t>
            </a:r>
            <a:endParaRPr sz="10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050">
                <a:solidFill>
                  <a:schemeClr val="dk1"/>
                </a:solidFill>
                <a:latin typeface="Times New Roman"/>
                <a:ea typeface="Times New Roman"/>
                <a:cs typeface="Times New Roman"/>
                <a:sym typeface="Times New Roman"/>
              </a:rPr>
              <a:t>[6]    M. Chitale, A. Dhawale, M. Dubey, and S. Ghane, “A Hybrid CNN-LSTM Approach for Deepfake Audio Detection,” in </a:t>
            </a:r>
            <a:r>
              <a:rPr i="1" lang="en-IN" sz="1050">
                <a:solidFill>
                  <a:schemeClr val="dk1"/>
                </a:solidFill>
                <a:latin typeface="Times New Roman"/>
                <a:ea typeface="Times New Roman"/>
                <a:cs typeface="Times New Roman"/>
                <a:sym typeface="Times New Roman"/>
              </a:rPr>
              <a:t>2024 3rd International Conference on Artificial Intelligence For Internet of Things (AIIoT)</a:t>
            </a:r>
            <a:r>
              <a:rPr lang="en-IN" sz="1050">
                <a:solidFill>
                  <a:schemeClr val="dk1"/>
                </a:solidFill>
                <a:latin typeface="Times New Roman"/>
                <a:ea typeface="Times New Roman"/>
                <a:cs typeface="Times New Roman"/>
                <a:sym typeface="Times New Roman"/>
              </a:rPr>
              <a:t>, May 2024, pp. 1–6. doi: 10.1109/AIIoT58432.2024.10574576.</a:t>
            </a:r>
            <a:endParaRPr sz="10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050">
                <a:solidFill>
                  <a:schemeClr val="dk1"/>
                </a:solidFill>
                <a:latin typeface="Times New Roman"/>
                <a:ea typeface="Times New Roman"/>
                <a:cs typeface="Times New Roman"/>
                <a:sym typeface="Times New Roman"/>
              </a:rPr>
              <a:t>[7]    Marcella Astrid, Enjie Ghorbel, Djamila Aouada, “Targeted Augmented Data for Audio Deepfake Detection,” in </a:t>
            </a:r>
            <a:r>
              <a:rPr i="1" lang="en-IN" sz="1050">
                <a:solidFill>
                  <a:schemeClr val="dk1"/>
                </a:solidFill>
                <a:latin typeface="Times New Roman"/>
                <a:ea typeface="Times New Roman"/>
                <a:cs typeface="Times New Roman"/>
                <a:sym typeface="Times New Roman"/>
              </a:rPr>
              <a:t>2024 32nd European Signal Processing Conference (EUSIPCO)</a:t>
            </a:r>
            <a:r>
              <a:rPr lang="en-IN" sz="1050">
                <a:solidFill>
                  <a:schemeClr val="dk1"/>
                </a:solidFill>
                <a:latin typeface="Times New Roman"/>
                <a:ea typeface="Times New Roman"/>
                <a:cs typeface="Times New Roman"/>
                <a:sym typeface="Times New Roman"/>
              </a:rPr>
              <a:t>, August 2024, doi: 10.23919/EUSIPCO63174.2024.10715288</a:t>
            </a:r>
            <a:r>
              <a:rPr lang="en-IN" sz="1150">
                <a:solidFill>
                  <a:schemeClr val="dk1"/>
                </a:solidFill>
                <a:latin typeface="Times New Roman"/>
                <a:ea typeface="Times New Roman"/>
                <a:cs typeface="Times New Roman"/>
                <a:sym typeface="Times New Roman"/>
              </a:rPr>
              <a:t>.</a:t>
            </a:r>
            <a:endParaRPr sz="115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IN" sz="1250">
                <a:solidFill>
                  <a:schemeClr val="dk1"/>
                </a:solidFill>
                <a:latin typeface="Times New Roman"/>
                <a:ea typeface="Times New Roman"/>
                <a:cs typeface="Times New Roman"/>
                <a:sym typeface="Times New Roman"/>
              </a:rPr>
              <a:t>[8]    Yinlin Guo, Haofan Huang, Xi Chen, He Zhao; Yuehai Wang, “Audio Deepfake Detection With Self-Supervised Wavlm And Multi-Fusion Attentive Classifier,” </a:t>
            </a:r>
            <a:r>
              <a:rPr i="1" lang="en-IN" sz="1250">
                <a:solidFill>
                  <a:schemeClr val="dk1"/>
                </a:solidFill>
                <a:latin typeface="Times New Roman"/>
                <a:ea typeface="Times New Roman"/>
                <a:cs typeface="Times New Roman"/>
                <a:sym typeface="Times New Roman"/>
              </a:rPr>
              <a:t>ICASSP 2024 - 2024 IEEE International Conference on Acoustics, Speech and Signal Processing (ICASSP)</a:t>
            </a:r>
            <a:r>
              <a:rPr lang="en-IN" sz="1250">
                <a:solidFill>
                  <a:schemeClr val="dk1"/>
                </a:solidFill>
                <a:latin typeface="Times New Roman"/>
                <a:ea typeface="Times New Roman"/>
                <a:cs typeface="Times New Roman"/>
                <a:sym typeface="Times New Roman"/>
              </a:rPr>
              <a:t>, April 2024, doi: 10.1109/ICASSP48485.2024.10447923.</a:t>
            </a:r>
            <a:endParaRPr sz="1250">
              <a:solidFill>
                <a:schemeClr val="dk1"/>
              </a:solidFill>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[9]    Hyun-seo Shin, Jungwoo Heo, Ju-ho Kim, Chan-yeong Lim, Wonbin Kim, Ha-Jin Yu, “HM-CONFORMER: A Conformer-Based Audio Deepfake Detection System with Hierarchical Pooling and Multi-Level Classification Token Aggregation Methods,”</a:t>
            </a:r>
            <a:r>
              <a:rPr i="1" lang="en-IN" sz="1250">
                <a:solidFill>
                  <a:schemeClr val="dk1"/>
                </a:solidFill>
                <a:latin typeface="Times New Roman"/>
                <a:ea typeface="Times New Roman"/>
                <a:cs typeface="Times New Roman"/>
                <a:sym typeface="Times New Roman"/>
              </a:rPr>
              <a:t> ICASSP 2024 - 2024 IEEE International Conference on Acoustics, Speech and Signal Processing (ICASSP)</a:t>
            </a:r>
            <a:r>
              <a:rPr lang="en-IN" sz="1250">
                <a:solidFill>
                  <a:schemeClr val="dk1"/>
                </a:solidFill>
                <a:latin typeface="Times New Roman"/>
                <a:ea typeface="Times New Roman"/>
                <a:cs typeface="Times New Roman"/>
                <a:sym typeface="Times New Roman"/>
              </a:rPr>
              <a:t>, April 2024, doi: 10.1109/ICASSP48485.2024.10448453.</a:t>
            </a:r>
            <a:endParaRPr sz="1250">
              <a:solidFill>
                <a:schemeClr val="dk1"/>
              </a:solidFill>
              <a:latin typeface="Helvetica Neue"/>
              <a:ea typeface="Helvetica Neue"/>
              <a:cs typeface="Helvetica Neue"/>
              <a:sym typeface="Helvetica Neue"/>
            </a:endParaRPr>
          </a:p>
          <a:p>
            <a:pPr indent="0" lvl="0" marL="457200" rtl="0" algn="just">
              <a:lnSpc>
                <a:spcPct val="150000"/>
              </a:lnSpc>
              <a:spcBef>
                <a:spcPts val="1200"/>
              </a:spcBef>
              <a:spcAft>
                <a:spcPts val="0"/>
              </a:spcAft>
              <a:buNone/>
            </a:pPr>
            <a:r>
              <a:t/>
            </a:r>
            <a:endParaRPr sz="1050">
              <a:solidFill>
                <a:schemeClr val="dk1"/>
              </a:solidFill>
              <a:latin typeface="Times New Roman"/>
              <a:ea typeface="Times New Roman"/>
              <a:cs typeface="Times New Roman"/>
              <a:sym typeface="Times New Roman"/>
            </a:endParaRPr>
          </a:p>
          <a:p>
            <a:pPr indent="0" lvl="0" marL="457200" marR="0" rtl="0" algn="just">
              <a:lnSpc>
                <a:spcPct val="150000"/>
              </a:lnSpc>
              <a:spcBef>
                <a:spcPts val="490"/>
              </a:spcBef>
              <a:spcAft>
                <a:spcPts val="0"/>
              </a:spcAft>
              <a:buNone/>
            </a:pPr>
            <a:r>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References </a:t>
            </a:r>
            <a:r>
              <a:rPr b="0" lang="en-IN" sz="2400"/>
              <a:t>(cont…)</a:t>
            </a:r>
            <a:endParaRPr/>
          </a:p>
        </p:txBody>
      </p:sp>
      <p:sp>
        <p:nvSpPr>
          <p:cNvPr id="171" name="Google Shape;171;p22"/>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[10]    Ahmed Ashraf Bekheet, Amr Ghoneim, Ghada Khoriba, “A Comprehensive Comparative Analysis of Deepfake Detection Techniques in Visual, Audio, and Audio-Visual Domains,” in </a:t>
            </a:r>
            <a:r>
              <a:rPr i="1" lang="en-IN" sz="1250">
                <a:solidFill>
                  <a:schemeClr val="dk1"/>
                </a:solidFill>
                <a:latin typeface="Times New Roman"/>
                <a:ea typeface="Times New Roman"/>
                <a:cs typeface="Times New Roman"/>
                <a:sym typeface="Times New Roman"/>
              </a:rPr>
              <a:t>2024 Intelligent Methods, Systems, and Applications (IMSA)</a:t>
            </a:r>
            <a:r>
              <a:rPr lang="en-IN" sz="1250">
                <a:solidFill>
                  <a:schemeClr val="dk1"/>
                </a:solidFill>
                <a:latin typeface="Times New Roman"/>
                <a:ea typeface="Times New Roman"/>
                <a:cs typeface="Times New Roman"/>
                <a:sym typeface="Times New Roman"/>
              </a:rPr>
              <a:t>, July 2024, doi: 10.1109/IMSA61967.2024.10652683.</a:t>
            </a:r>
            <a:endParaRPr sz="12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[11]   Islam Altalahin, Shadi AlZu'bi, Assal Alqudah, Ala Mughaid, “Unmasking the Truth: A Deep Learning Approach to Detecting Deepfake Audio Through MFCC Features,” in </a:t>
            </a:r>
            <a:r>
              <a:rPr i="1" lang="en-IN" sz="1250">
                <a:solidFill>
                  <a:schemeClr val="dk1"/>
                </a:solidFill>
                <a:latin typeface="Times New Roman"/>
                <a:ea typeface="Times New Roman"/>
                <a:cs typeface="Times New Roman"/>
                <a:sym typeface="Times New Roman"/>
              </a:rPr>
              <a:t>2023 International Conference on Information Technology (ICIT)</a:t>
            </a:r>
            <a:r>
              <a:rPr lang="en-IN" sz="1250">
                <a:solidFill>
                  <a:schemeClr val="dk1"/>
                </a:solidFill>
                <a:latin typeface="Times New Roman"/>
                <a:ea typeface="Times New Roman"/>
                <a:cs typeface="Times New Roman"/>
                <a:sym typeface="Times New Roman"/>
              </a:rPr>
              <a:t>, August 2023, doi: 10.1109/ICIT58056.2023.10226172</a:t>
            </a:r>
            <a:endParaRPr sz="12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[12]    D. Salvi </a:t>
            </a:r>
            <a:r>
              <a:rPr i="1" lang="en-IN" sz="1250">
                <a:solidFill>
                  <a:schemeClr val="dk1"/>
                </a:solidFill>
                <a:latin typeface="Times New Roman"/>
                <a:ea typeface="Times New Roman"/>
                <a:cs typeface="Times New Roman"/>
                <a:sym typeface="Times New Roman"/>
              </a:rPr>
              <a:t>et al.</a:t>
            </a:r>
            <a:r>
              <a:rPr lang="en-IN" sz="1250">
                <a:solidFill>
                  <a:schemeClr val="dk1"/>
                </a:solidFill>
                <a:latin typeface="Times New Roman"/>
                <a:ea typeface="Times New Roman"/>
                <a:cs typeface="Times New Roman"/>
                <a:sym typeface="Times New Roman"/>
              </a:rPr>
              <a:t>, “A Robust Approach to Multimodal Deepfake Detection,” </a:t>
            </a:r>
            <a:r>
              <a:rPr i="1" lang="en-IN" sz="1250">
                <a:solidFill>
                  <a:schemeClr val="dk1"/>
                </a:solidFill>
                <a:latin typeface="Times New Roman"/>
                <a:ea typeface="Times New Roman"/>
                <a:cs typeface="Times New Roman"/>
                <a:sym typeface="Times New Roman"/>
              </a:rPr>
              <a:t>J. Imaging</a:t>
            </a:r>
            <a:r>
              <a:rPr lang="en-IN" sz="1250">
                <a:solidFill>
                  <a:schemeClr val="dk1"/>
                </a:solidFill>
                <a:latin typeface="Times New Roman"/>
                <a:ea typeface="Times New Roman"/>
                <a:cs typeface="Times New Roman"/>
                <a:sym typeface="Times New Roman"/>
              </a:rPr>
              <a:t>, vol. 9, no. 6, Art. no. 6, Jun. 2023, doi: 10.3390/jimaging9060122.</a:t>
            </a:r>
            <a:endParaRPr sz="1250">
              <a:solidFill>
                <a:schemeClr val="dk1"/>
              </a:solidFill>
              <a:latin typeface="Times New Roman"/>
              <a:ea typeface="Times New Roman"/>
              <a:cs typeface="Times New Roman"/>
              <a:sym typeface="Times New Roman"/>
            </a:endParaRPr>
          </a:p>
          <a:p>
            <a:pPr indent="0" lvl="0" marL="0" marR="0" rtl="0" algn="just">
              <a:lnSpc>
                <a:spcPct val="115000"/>
              </a:lnSpc>
              <a:spcBef>
                <a:spcPts val="490"/>
              </a:spcBef>
              <a:spcAft>
                <a:spcPts val="0"/>
              </a:spcAft>
              <a:buNone/>
            </a:pPr>
            <a:r>
              <a:rPr lang="en-IN" sz="1250">
                <a:solidFill>
                  <a:schemeClr val="dk1"/>
                </a:solidFill>
                <a:latin typeface="Times New Roman"/>
                <a:ea typeface="Times New Roman"/>
                <a:cs typeface="Times New Roman"/>
                <a:sym typeface="Times New Roman"/>
              </a:rPr>
              <a:t>[13]    Thien-Phuc Doan, Long Nguyen-Vu, Souhwan Jung, Kihun Hong, “BTS-E: Audio Deepfake Detection Using Breathing-Talking-Silence Encoder,” </a:t>
            </a:r>
            <a:r>
              <a:rPr i="1" lang="en-IN" sz="1250">
                <a:solidFill>
                  <a:schemeClr val="dk1"/>
                </a:solidFill>
                <a:latin typeface="Times New Roman"/>
                <a:ea typeface="Times New Roman"/>
                <a:cs typeface="Times New Roman"/>
                <a:sym typeface="Times New Roman"/>
              </a:rPr>
              <a:t>JICASSP 2023 - 2023 IEEE International Conference on Acoustics, Speech and Signal Processing (ICASSP), </a:t>
            </a:r>
            <a:r>
              <a:rPr lang="en-IN" sz="1250">
                <a:solidFill>
                  <a:schemeClr val="dk1"/>
                </a:solidFill>
                <a:latin typeface="Times New Roman"/>
                <a:ea typeface="Times New Roman"/>
                <a:cs typeface="Times New Roman"/>
                <a:sym typeface="Times New Roman"/>
              </a:rPr>
              <a:t>June 2023, doi: 10.1109/ICASSP49357.2023.10095927.</a:t>
            </a:r>
            <a:r>
              <a:rPr lang="en-IN" sz="1500">
                <a:solidFill>
                  <a:schemeClr val="dk1"/>
                </a:solidFill>
                <a:latin typeface="Helvetica Neue"/>
                <a:ea typeface="Helvetica Neue"/>
                <a:cs typeface="Helvetica Neue"/>
                <a:sym typeface="Helvetica Neue"/>
              </a:rPr>
              <a:t>. </a:t>
            </a:r>
            <a:endParaRPr sz="1500">
              <a:solidFill>
                <a:schemeClr val="dk1"/>
              </a:solidFill>
              <a:latin typeface="Helvetica Neue"/>
              <a:ea typeface="Helvetica Neue"/>
              <a:cs typeface="Helvetica Neue"/>
              <a:sym typeface="Helvetica Neue"/>
            </a:endParaRPr>
          </a:p>
          <a:p>
            <a:pPr indent="0" lvl="0" marL="0" rtl="0" algn="just">
              <a:lnSpc>
                <a:spcPct val="115000"/>
              </a:lnSpc>
              <a:spcBef>
                <a:spcPts val="0"/>
              </a:spcBef>
              <a:spcAft>
                <a:spcPts val="0"/>
              </a:spcAft>
              <a:buNone/>
            </a:pPr>
            <a:r>
              <a:rPr lang="en-IN" sz="1300">
                <a:solidFill>
                  <a:schemeClr val="dk1"/>
                </a:solidFill>
                <a:latin typeface="Times New Roman"/>
                <a:ea typeface="Times New Roman"/>
                <a:cs typeface="Times New Roman"/>
                <a:sym typeface="Times New Roman"/>
              </a:rPr>
              <a:t>[</a:t>
            </a:r>
            <a:r>
              <a:rPr lang="en-IN" sz="1250">
                <a:solidFill>
                  <a:schemeClr val="dk1"/>
                </a:solidFill>
                <a:latin typeface="Times New Roman"/>
                <a:ea typeface="Times New Roman"/>
                <a:cs typeface="Times New Roman"/>
                <a:sym typeface="Times New Roman"/>
              </a:rPr>
              <a:t>14]    Diya Garg, Rupali Gill, “Deepfake</a:t>
            </a:r>
            <a:r>
              <a:rPr lang="en-IN" sz="1250">
                <a:solidFill>
                  <a:schemeClr val="dk1"/>
                </a:solidFill>
                <a:latin typeface="Times New Roman"/>
                <a:ea typeface="Times New Roman"/>
                <a:cs typeface="Times New Roman"/>
                <a:sym typeface="Times New Roman"/>
              </a:rPr>
              <a:t> G</a:t>
            </a:r>
            <a:r>
              <a:rPr lang="en-IN" sz="1250">
                <a:solidFill>
                  <a:schemeClr val="dk1"/>
                </a:solidFill>
                <a:latin typeface="Times New Roman"/>
                <a:ea typeface="Times New Roman"/>
                <a:cs typeface="Times New Roman"/>
                <a:sym typeface="Times New Roman"/>
              </a:rPr>
              <a:t>eneration and Detection - An Exploratory Study,” </a:t>
            </a:r>
            <a:r>
              <a:rPr i="1" lang="en-IN" sz="1250">
                <a:solidFill>
                  <a:schemeClr val="dk1"/>
                </a:solidFill>
                <a:latin typeface="Times New Roman"/>
                <a:ea typeface="Times New Roman"/>
                <a:cs typeface="Times New Roman"/>
                <a:sym typeface="Times New Roman"/>
              </a:rPr>
              <a:t>2023 10th IEEE Uttar Pradesh Section International Conference on Electrical, Electronics and Computer Engineering (UPCON),  </a:t>
            </a:r>
            <a:r>
              <a:rPr lang="en-IN" sz="1250">
                <a:solidFill>
                  <a:schemeClr val="dk1"/>
                </a:solidFill>
                <a:latin typeface="Times New Roman"/>
                <a:ea typeface="Times New Roman"/>
                <a:cs typeface="Times New Roman"/>
                <a:sym typeface="Times New Roman"/>
              </a:rPr>
              <a:t>December 2023, doi: 10.1109/UPCON59197.2023.10434896.</a:t>
            </a:r>
            <a:endParaRPr sz="12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[15]   H. Hakan Kilinc, Faruk Kaledibi, “Audio Deepfake Detection by using Machine and Deep Learning,” </a:t>
            </a:r>
            <a:r>
              <a:rPr i="1" lang="en-IN" sz="1250">
                <a:solidFill>
                  <a:schemeClr val="dk1"/>
                </a:solidFill>
                <a:latin typeface="Times New Roman"/>
                <a:ea typeface="Times New Roman"/>
                <a:cs typeface="Times New Roman"/>
                <a:sym typeface="Times New Roman"/>
              </a:rPr>
              <a:t>2023 10th International Conference on Wireless Networks and Mobile Communications (WINCOM),  </a:t>
            </a:r>
            <a:r>
              <a:rPr lang="en-IN" sz="1250">
                <a:solidFill>
                  <a:schemeClr val="dk1"/>
                </a:solidFill>
                <a:latin typeface="Times New Roman"/>
                <a:ea typeface="Times New Roman"/>
                <a:cs typeface="Times New Roman"/>
                <a:sym typeface="Times New Roman"/>
              </a:rPr>
              <a:t>October 2023, doi: 10.1109/WINCOM59760.2023.10323004.</a:t>
            </a:r>
            <a:endParaRPr sz="1250">
              <a:solidFill>
                <a:schemeClr val="dk1"/>
              </a:solidFill>
              <a:latin typeface="Helvetica Neue"/>
              <a:ea typeface="Helvetica Neue"/>
              <a:cs typeface="Helvetica Neue"/>
              <a:sym typeface="Helvetica Neue"/>
            </a:endParaRPr>
          </a:p>
          <a:p>
            <a:pPr indent="0" lvl="0" marL="0" rtl="0" algn="just">
              <a:lnSpc>
                <a:spcPct val="115000"/>
              </a:lnSpc>
              <a:spcBef>
                <a:spcPts val="420"/>
              </a:spcBef>
              <a:spcAft>
                <a:spcPts val="0"/>
              </a:spcAft>
              <a:buNone/>
            </a:pPr>
            <a:r>
              <a:rPr lang="en-IN" sz="1250">
                <a:solidFill>
                  <a:schemeClr val="dk1"/>
                </a:solidFill>
                <a:latin typeface="Times New Roman"/>
                <a:ea typeface="Times New Roman"/>
                <a:cs typeface="Times New Roman"/>
                <a:sym typeface="Times New Roman"/>
              </a:rPr>
              <a:t>[16]    M. Dua, C. Jain, and S. Kumar, “LSTM and CNN based ensemble approach for spoof detection task in automatic speaker verification systems,” </a:t>
            </a:r>
            <a:r>
              <a:rPr i="1" lang="en-IN" sz="1250">
                <a:solidFill>
                  <a:schemeClr val="dk1"/>
                </a:solidFill>
                <a:latin typeface="Times New Roman"/>
                <a:ea typeface="Times New Roman"/>
                <a:cs typeface="Times New Roman"/>
                <a:sym typeface="Times New Roman"/>
              </a:rPr>
              <a:t>J. Ambient Intell. Humaniz. Comput.</a:t>
            </a:r>
            <a:r>
              <a:rPr lang="en-IN" sz="1250">
                <a:solidFill>
                  <a:schemeClr val="dk1"/>
                </a:solidFill>
                <a:latin typeface="Times New Roman"/>
                <a:ea typeface="Times New Roman"/>
                <a:cs typeface="Times New Roman"/>
                <a:sym typeface="Times New Roman"/>
              </a:rPr>
              <a:t>, vol. 13, no. 4, pp. 1985–2000, Apr. 2022, doi: 10.1007/s12652-021-02960-0.</a:t>
            </a:r>
            <a:endParaRPr sz="1250">
              <a:solidFill>
                <a:schemeClr val="dk1"/>
              </a:solidFill>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[17]   H. Ling, L. Huang, J. Huang, B. Zhang, and P. Li, “Attention-Based Convolutional Neural Network for ASV Spoofing Detection,” presented at the Proc. Interspeech 2021, 2021, pp. 4289–4293. doi: 10.21437/Interspeech.2021-1404.</a:t>
            </a:r>
            <a:endParaRPr sz="1250">
              <a:solidFill>
                <a:schemeClr val="dk1"/>
              </a:solidFill>
              <a:latin typeface="Helvetica Neue"/>
              <a:ea typeface="Helvetica Neue"/>
              <a:cs typeface="Helvetica Neue"/>
              <a:sym typeface="Helvetica Neue"/>
            </a:endParaRPr>
          </a:p>
          <a:p>
            <a:pPr indent="0" lvl="0" marL="0" marR="0" rtl="0" algn="just">
              <a:lnSpc>
                <a:spcPct val="150000"/>
              </a:lnSpc>
              <a:spcBef>
                <a:spcPts val="490"/>
              </a:spcBef>
              <a:spcAft>
                <a:spcPts val="0"/>
              </a:spcAft>
              <a:buNone/>
            </a:pPr>
            <a:r>
              <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40640" y="30480"/>
            <a:ext cx="8328752" cy="694064"/>
          </a:xfrm>
          <a:prstGeom prst="rect">
            <a:avLst/>
          </a:prstGeom>
          <a:solidFill>
            <a:srgbClr val="0037A4"/>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90488" rtl="0" algn="l">
              <a:spcBef>
                <a:spcPts val="0"/>
              </a:spcBef>
              <a:spcAft>
                <a:spcPts val="0"/>
              </a:spcAft>
              <a:buNone/>
            </a:pPr>
            <a:r>
              <a:rPr lang="en-IN" sz="2400"/>
              <a:t>References </a:t>
            </a:r>
            <a:r>
              <a:rPr b="0" lang="en-IN" sz="2400"/>
              <a:t>(cont…)</a:t>
            </a:r>
            <a:endParaRPr sz="1800"/>
          </a:p>
        </p:txBody>
      </p:sp>
      <p:sp>
        <p:nvSpPr>
          <p:cNvPr id="177" name="Google Shape;177;p23"/>
          <p:cNvSpPr txBox="1"/>
          <p:nvPr/>
        </p:nvSpPr>
        <p:spPr>
          <a:xfrm>
            <a:off x="77118" y="804231"/>
            <a:ext cx="8956714" cy="5794873"/>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2400"/>
              </a:spcBef>
              <a:spcAft>
                <a:spcPts val="0"/>
              </a:spcAft>
              <a:buNone/>
            </a:pPr>
            <a:r>
              <a:rPr lang="en-IN" sz="1250">
                <a:solidFill>
                  <a:schemeClr val="dk1"/>
                </a:solidFill>
                <a:latin typeface="Times New Roman"/>
                <a:ea typeface="Times New Roman"/>
                <a:cs typeface="Times New Roman"/>
                <a:sym typeface="Times New Roman"/>
              </a:rPr>
              <a:t>[18]   Z. Fan, J. Zhan, and W. Jiang, “Work-in-Progress: Detecting Deepfake Videos by Visual-Audio Synchronism,” in </a:t>
            </a:r>
            <a:r>
              <a:rPr i="1" lang="en-IN" sz="1250">
                <a:solidFill>
                  <a:schemeClr val="dk1"/>
                </a:solidFill>
                <a:latin typeface="Times New Roman"/>
                <a:ea typeface="Times New Roman"/>
                <a:cs typeface="Times New Roman"/>
                <a:sym typeface="Times New Roman"/>
              </a:rPr>
              <a:t>2021 International Conference on Embedded Software (EMSOFT)</a:t>
            </a:r>
            <a:r>
              <a:rPr lang="en-IN" sz="1250">
                <a:solidFill>
                  <a:schemeClr val="dk1"/>
                </a:solidFill>
                <a:latin typeface="Times New Roman"/>
                <a:ea typeface="Times New Roman"/>
                <a:cs typeface="Times New Roman"/>
                <a:sym typeface="Times New Roman"/>
              </a:rPr>
              <a:t>, Oct. 2021, pp. 31–32. Accessed: Sep. 28, 2024. [Online]. Available: https://ieeexplore.ieee.org/document/9589638</a:t>
            </a:r>
            <a:endParaRPr sz="125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[19]   K. Chugh, P. Gupta, A. Dhall, and R. Subramanian, “Not made for each other- Audio-Visual Dissonance-based Deepfake Detection and Localization,” Mar. 20, 2021, </a:t>
            </a:r>
            <a:r>
              <a:rPr i="1" lang="en-IN" sz="1250">
                <a:solidFill>
                  <a:schemeClr val="dk1"/>
                </a:solidFill>
                <a:latin typeface="Times New Roman"/>
                <a:ea typeface="Times New Roman"/>
                <a:cs typeface="Times New Roman"/>
                <a:sym typeface="Times New Roman"/>
              </a:rPr>
              <a:t>arXiv</a:t>
            </a:r>
            <a:r>
              <a:rPr lang="en-IN" sz="1250">
                <a:solidFill>
                  <a:schemeClr val="dk1"/>
                </a:solidFill>
                <a:latin typeface="Times New Roman"/>
                <a:ea typeface="Times New Roman"/>
                <a:cs typeface="Times New Roman"/>
                <a:sym typeface="Times New Roman"/>
              </a:rPr>
              <a:t>: arXiv:2005.14405. doi: 10.48550/arXiv.2005.14405.</a:t>
            </a:r>
            <a:endParaRPr sz="1250">
              <a:solidFill>
                <a:schemeClr val="dk1"/>
              </a:solidFill>
            </a:endParaRPr>
          </a:p>
          <a:p>
            <a:pPr indent="0" lvl="0" marL="0" rtl="0" algn="just">
              <a:lnSpc>
                <a:spcPct val="115000"/>
              </a:lnSpc>
              <a:spcBef>
                <a:spcPts val="1200"/>
              </a:spcBef>
              <a:spcAft>
                <a:spcPts val="0"/>
              </a:spcAft>
              <a:buNone/>
            </a:pPr>
            <a:r>
              <a:rPr lang="en-IN" sz="1250">
                <a:solidFill>
                  <a:schemeClr val="dk1"/>
                </a:solidFill>
                <a:latin typeface="Times New Roman"/>
                <a:ea typeface="Times New Roman"/>
                <a:cs typeface="Times New Roman"/>
                <a:sym typeface="Times New Roman"/>
              </a:rPr>
              <a:t>[20]   R. L. M. A. P. C. Wijethunga, D. M. K. Matheesha, A. A. Noman, K. H. V. T. A. De Silva, M. Tissera, and L. Rupasinghe, “Deepfake Audio Detection: A Deep Learning Based Solution for Group Conversations,” in </a:t>
            </a:r>
            <a:r>
              <a:rPr i="1" lang="en-IN" sz="1250">
                <a:solidFill>
                  <a:schemeClr val="dk1"/>
                </a:solidFill>
                <a:latin typeface="Times New Roman"/>
                <a:ea typeface="Times New Roman"/>
                <a:cs typeface="Times New Roman"/>
                <a:sym typeface="Times New Roman"/>
              </a:rPr>
              <a:t>2020.</a:t>
            </a:r>
            <a:endParaRPr i="1" sz="125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IN" sz="1300">
                <a:solidFill>
                  <a:schemeClr val="dk1"/>
                </a:solidFill>
                <a:latin typeface="Times New Roman"/>
                <a:ea typeface="Times New Roman"/>
                <a:cs typeface="Times New Roman"/>
                <a:sym typeface="Times New Roman"/>
              </a:rPr>
              <a:t>[21]   A. Chintha </a:t>
            </a:r>
            <a:r>
              <a:rPr i="1" lang="en-IN" sz="1300">
                <a:solidFill>
                  <a:schemeClr val="dk1"/>
                </a:solidFill>
                <a:latin typeface="Times New Roman"/>
                <a:ea typeface="Times New Roman"/>
                <a:cs typeface="Times New Roman"/>
                <a:sym typeface="Times New Roman"/>
              </a:rPr>
              <a:t>et al.</a:t>
            </a:r>
            <a:r>
              <a:rPr lang="en-IN" sz="1300">
                <a:solidFill>
                  <a:schemeClr val="dk1"/>
                </a:solidFill>
                <a:latin typeface="Times New Roman"/>
                <a:ea typeface="Times New Roman"/>
                <a:cs typeface="Times New Roman"/>
                <a:sym typeface="Times New Roman"/>
              </a:rPr>
              <a:t>, “Recurrent Convolutional Structures for Audio Spoof and Video Deepfake Detection,” </a:t>
            </a:r>
            <a:r>
              <a:rPr i="1" lang="en-IN" sz="1300">
                <a:solidFill>
                  <a:schemeClr val="dk1"/>
                </a:solidFill>
                <a:latin typeface="Times New Roman"/>
                <a:ea typeface="Times New Roman"/>
                <a:cs typeface="Times New Roman"/>
                <a:sym typeface="Times New Roman"/>
              </a:rPr>
              <a:t>IEEE J. Sel. Top. Signal Process.</a:t>
            </a:r>
            <a:r>
              <a:rPr lang="en-IN" sz="1300">
                <a:solidFill>
                  <a:schemeClr val="dk1"/>
                </a:solidFill>
                <a:latin typeface="Times New Roman"/>
                <a:ea typeface="Times New Roman"/>
                <a:cs typeface="Times New Roman"/>
                <a:sym typeface="Times New Roman"/>
              </a:rPr>
              <a:t>, vol. 14, no. 5, pp. 1024–1037, Aug. 2020, doi: 10.1109/JSTSP.2020.2999185.</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300">
                <a:solidFill>
                  <a:schemeClr val="dk1"/>
                </a:solidFill>
                <a:latin typeface="Times New Roman"/>
                <a:ea typeface="Times New Roman"/>
                <a:cs typeface="Times New Roman"/>
                <a:sym typeface="Times New Roman"/>
              </a:rPr>
              <a:t>[22]   S. Agarwal, H. Farid, O. Fried, and M. Agrawala, “Detecting Deep-Fake Videos from Phoneme-Viseme Mismatches,” in </a:t>
            </a:r>
            <a:r>
              <a:rPr i="1" lang="en-IN" sz="1300">
                <a:solidFill>
                  <a:schemeClr val="dk1"/>
                </a:solidFill>
                <a:latin typeface="Times New Roman"/>
                <a:ea typeface="Times New Roman"/>
                <a:cs typeface="Times New Roman"/>
                <a:sym typeface="Times New Roman"/>
              </a:rPr>
              <a:t>2020 IEEE/CVF Conference on Computer Vision and Pattern Recognition Workshops (CVPRW)</a:t>
            </a:r>
            <a:r>
              <a:rPr lang="en-IN" sz="1300">
                <a:solidFill>
                  <a:schemeClr val="dk1"/>
                </a:solidFill>
                <a:latin typeface="Times New Roman"/>
                <a:ea typeface="Times New Roman"/>
                <a:cs typeface="Times New Roman"/>
                <a:sym typeface="Times New Roman"/>
              </a:rPr>
              <a:t>, Jun. 2020, pp. 2814–2822. doi: 10.1109/CVPRW50498.2020.00338.</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300">
                <a:solidFill>
                  <a:schemeClr val="dk1"/>
                </a:solidFill>
                <a:latin typeface="Times New Roman"/>
                <a:ea typeface="Times New Roman"/>
                <a:cs typeface="Times New Roman"/>
                <a:sym typeface="Times New Roman"/>
              </a:rPr>
              <a:t>[23]   M. Lomnitz, Z. Hampel-Arias, V. Sandesara, and S. Hu, “Multimodal Approach for DeepFake Detection,” in </a:t>
            </a:r>
            <a:r>
              <a:rPr i="1" lang="en-IN" sz="1300">
                <a:solidFill>
                  <a:schemeClr val="dk1"/>
                </a:solidFill>
                <a:latin typeface="Times New Roman"/>
                <a:ea typeface="Times New Roman"/>
                <a:cs typeface="Times New Roman"/>
                <a:sym typeface="Times New Roman"/>
              </a:rPr>
              <a:t>2020 IEEE Applied Imagery Pattern Recognition Workshop (AIPR)</a:t>
            </a:r>
            <a:r>
              <a:rPr lang="en-IN" sz="1300">
                <a:solidFill>
                  <a:schemeClr val="dk1"/>
                </a:solidFill>
                <a:latin typeface="Times New Roman"/>
                <a:ea typeface="Times New Roman"/>
                <a:cs typeface="Times New Roman"/>
                <a:sym typeface="Times New Roman"/>
              </a:rPr>
              <a:t>, Oct. 2020, pp. 1–9. doi: 10.1109/AIPR50011.2020.9425192.</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300">
                <a:solidFill>
                  <a:schemeClr val="dk1"/>
                </a:solidFill>
                <a:latin typeface="Times New Roman"/>
                <a:ea typeface="Times New Roman"/>
                <a:cs typeface="Times New Roman"/>
                <a:sym typeface="Times New Roman"/>
              </a:rPr>
              <a:t>[24]   Md. Shohel Rana, Andrew H. Sung, “DeepfakeStack: A Deep Ensemble-based Learning Technique for Deepfake Detection”, </a:t>
            </a:r>
            <a:r>
              <a:rPr i="1" lang="en-IN" sz="1300">
                <a:solidFill>
                  <a:schemeClr val="dk1"/>
                </a:solidFill>
                <a:latin typeface="Times New Roman"/>
                <a:ea typeface="Times New Roman"/>
                <a:cs typeface="Times New Roman"/>
                <a:sym typeface="Times New Roman"/>
              </a:rPr>
              <a:t>2020 7th IEEE International Conference on Cyber Security and Cloud Computing (CSCloud)/2020 6th IEEE International Conference on Edge Computing and Scalable Cloud (EdgeCom),</a:t>
            </a:r>
            <a:r>
              <a:rPr lang="en-IN" sz="1300">
                <a:solidFill>
                  <a:schemeClr val="dk1"/>
                </a:solidFill>
                <a:latin typeface="Times New Roman"/>
                <a:ea typeface="Times New Roman"/>
                <a:cs typeface="Times New Roman"/>
                <a:sym typeface="Times New Roman"/>
              </a:rPr>
              <a:t> August 2020, doi: 10.1109/CSCloud-EdgeCom49738.2020.00021.</a:t>
            </a:r>
            <a:endParaRPr sz="1300">
              <a:solidFill>
                <a:schemeClr val="dk1"/>
              </a:solidFill>
              <a:latin typeface="Helvetica Neue"/>
              <a:ea typeface="Helvetica Neue"/>
              <a:cs typeface="Helvetica Neue"/>
              <a:sym typeface="Helvetica Neue"/>
            </a:endParaRPr>
          </a:p>
          <a:p>
            <a:pPr indent="0" lvl="0" marL="0" rtl="0" algn="just">
              <a:lnSpc>
                <a:spcPct val="115000"/>
              </a:lnSpc>
              <a:spcBef>
                <a:spcPts val="1200"/>
              </a:spcBef>
              <a:spcAft>
                <a:spcPts val="0"/>
              </a:spcAft>
              <a:buNone/>
            </a:pPr>
            <a:r>
              <a:rPr lang="en-IN" sz="1300">
                <a:solidFill>
                  <a:schemeClr val="dk1"/>
                </a:solidFill>
                <a:latin typeface="Times New Roman"/>
                <a:ea typeface="Times New Roman"/>
                <a:cs typeface="Times New Roman"/>
                <a:sym typeface="Times New Roman"/>
              </a:rPr>
              <a:t>[25]   B. Chettri, D. Stoller, V. Morfi, M. A. M. Ramírez, E. Benetos, and B. L. Sturm, “Ensemble Models for Spoofing Detection in Automatic Speaker Verification,” Jul. 04, 2019, </a:t>
            </a:r>
            <a:r>
              <a:rPr i="1" lang="en-IN" sz="1300">
                <a:solidFill>
                  <a:schemeClr val="dk1"/>
                </a:solidFill>
                <a:latin typeface="Times New Roman"/>
                <a:ea typeface="Times New Roman"/>
                <a:cs typeface="Times New Roman"/>
                <a:sym typeface="Times New Roman"/>
              </a:rPr>
              <a:t>arXiv</a:t>
            </a:r>
            <a:r>
              <a:rPr lang="en-IN" sz="1300">
                <a:solidFill>
                  <a:schemeClr val="dk1"/>
                </a:solidFill>
                <a:latin typeface="Times New Roman"/>
                <a:ea typeface="Times New Roman"/>
                <a:cs typeface="Times New Roman"/>
                <a:sym typeface="Times New Roman"/>
              </a:rPr>
              <a:t>: arXiv:1904.04589. doi: 10.48550/arXiv.1904.04589.</a:t>
            </a:r>
            <a:endParaRPr i="1" sz="1250">
              <a:solidFill>
                <a:schemeClr val="dk1"/>
              </a:solidFill>
              <a:latin typeface="Times New Roman"/>
              <a:ea typeface="Times New Roman"/>
              <a:cs typeface="Times New Roman"/>
              <a:sym typeface="Times New Roman"/>
            </a:endParaRPr>
          </a:p>
          <a:p>
            <a:pPr indent="0" lvl="0" marL="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nvSpPr>
        <p:spPr>
          <a:xfrm>
            <a:off x="77118" y="804231"/>
            <a:ext cx="8956714" cy="5960125"/>
          </a:xfrm>
          <a:prstGeom prst="rect">
            <a:avLst/>
          </a:prstGeom>
          <a:noFill/>
          <a:ln>
            <a:noFill/>
          </a:ln>
        </p:spPr>
        <p:txBody>
          <a:bodyPr anchorCtr="0" anchor="t" bIns="45700" lIns="91425" spcFirstLastPara="1" rIns="91425" wrap="square" tIns="45700">
            <a:noAutofit/>
          </a:bodyPr>
          <a:lstStyle/>
          <a:p>
            <a:pPr indent="0" lvl="0" marL="95250" marR="0" rtl="0" algn="just">
              <a:lnSpc>
                <a:spcPct val="150000"/>
              </a:lnSpc>
              <a:spcBef>
                <a:spcPts val="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just">
              <a:lnSpc>
                <a:spcPct val="150000"/>
              </a:lnSpc>
              <a:spcBef>
                <a:spcPts val="490"/>
              </a:spcBef>
              <a:spcAft>
                <a:spcPts val="0"/>
              </a:spcAft>
              <a:buClr>
                <a:schemeClr val="dk1"/>
              </a:buClr>
              <a:buSzPts val="1750"/>
              <a:buFont typeface="Arial"/>
              <a:buNone/>
            </a:pPr>
            <a:r>
              <a:t/>
            </a:r>
            <a:endParaRPr sz="1400">
              <a:solidFill>
                <a:schemeClr val="dk1"/>
              </a:solidFill>
              <a:latin typeface="Helvetica Neue"/>
              <a:ea typeface="Helvetica Neue"/>
              <a:cs typeface="Helvetica Neue"/>
              <a:sym typeface="Helvetica Neue"/>
            </a:endParaRPr>
          </a:p>
          <a:p>
            <a:pPr indent="0" lvl="0" marL="95250" marR="0" rtl="0" algn="ctr">
              <a:lnSpc>
                <a:spcPct val="150000"/>
              </a:lnSpc>
              <a:spcBef>
                <a:spcPts val="700"/>
              </a:spcBef>
              <a:spcAft>
                <a:spcPts val="0"/>
              </a:spcAft>
              <a:buClr>
                <a:schemeClr val="dk1"/>
              </a:buClr>
              <a:buSzPts val="2500"/>
              <a:buFont typeface="Arial"/>
              <a:buNone/>
            </a:pPr>
            <a:r>
              <a:rPr b="1" lang="en-IN" sz="2000">
                <a:solidFill>
                  <a:schemeClr val="dk1"/>
                </a:solidFill>
                <a:latin typeface="Helvetica Neue"/>
                <a:ea typeface="Helvetica Neue"/>
                <a:cs typeface="Helvetica Neue"/>
                <a:sym typeface="Helvetica Neue"/>
              </a:rPr>
              <a:t>Thanks</a:t>
            </a:r>
            <a:r>
              <a:rPr lang="en-IN" sz="1400">
                <a:solidFill>
                  <a:schemeClr val="dk1"/>
                </a:solidFill>
                <a:latin typeface="Helvetica Neue"/>
                <a:ea typeface="Helvetica Neue"/>
                <a:cs typeface="Helvetica Neue"/>
                <a:sym typeface="Helvetica Neue"/>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2008-07-20T15:16:37Z</dcterms:created>
  <dc:creator>Marilyn Turnamian</dc:creator>
</cp:coreProperties>
</file>